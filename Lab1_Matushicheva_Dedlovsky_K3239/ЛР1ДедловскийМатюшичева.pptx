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60" r:id="rId8"/>
    <p:sldId id="261" r:id="rId9"/>
    <p:sldId id="259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378" y="90"/>
      </p:cViewPr>
      <p:guideLst>
        <p:guide pos="3840"/>
        <p:guide orient="horz" pos="216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176396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73090018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</a:fld>
            <a:endParaRPr lang="ru-RU"/>
          </a:p>
        </p:txBody>
      </p:sp>
      <p:sp>
        <p:nvSpPr>
          <p:cNvPr id="422367461" name="Рисунок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932236707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139380665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22670339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51415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178477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1055712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ED214A-CFB2-A9F2-CCC0-73CFD55F7AF6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5E2089-1A63-337E-9EC7-35B62D213125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42060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96849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843940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6F1BB4-8F03-CFE3-9F26-CE2AE34877B0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97622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27951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14072777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1C21D5-EE70-F6FC-2958-8236F73004CD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13526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18624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7904482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FFB5DE-3C3E-FCAB-5C58-8E8D72F28A15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53127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768124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3736320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CA74EF-830D-48F2-9926-F0BE15716FA4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26014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446716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11430749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FBEE50-DB55-D8E5-F73E-D7F9917BF82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45085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768225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13032453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4D1E0A-8476-32E3-4865-BC88167094AC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05019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62257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1202427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5C0358-7E46-9633-579E-1940D86653CD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764884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705346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577512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4AF6C9-90F7-80C3-1014-9ED21DE48514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09359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351265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607548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25ACB5-7A0C-693D-700D-0B2E270E3C60}" type="slidenum">
              <a:rPr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520743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626372068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1678857247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</a:fld>
            <a:endParaRPr lang="ru-RU"/>
          </a:p>
        </p:txBody>
      </p:sp>
      <p:sp>
        <p:nvSpPr>
          <p:cNvPr id="82779304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18916765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PhAnim="0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5260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972968148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21868249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</a:fld>
            <a:endParaRPr lang="ru-RU"/>
          </a:p>
        </p:txBody>
      </p:sp>
      <p:sp>
        <p:nvSpPr>
          <p:cNvPr id="1945431861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1449507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PhAnim="0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09026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960516385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837184205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</a:fld>
            <a:endParaRPr lang="ru-RU"/>
          </a:p>
        </p:txBody>
      </p:sp>
      <p:sp>
        <p:nvSpPr>
          <p:cNvPr id="1396126209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6914663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PhAnim="0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49612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82333549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677636101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46376780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</a:fld>
            <a:endParaRPr lang="ru-RU"/>
          </a:p>
        </p:txBody>
      </p:sp>
      <p:sp>
        <p:nvSpPr>
          <p:cNvPr id="1824867682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60446321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PhAnim="0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450907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527539587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113093675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809682828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878131692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108586313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</a:fld>
            <a:endParaRPr lang="ru-RU"/>
          </a:p>
        </p:txBody>
      </p:sp>
      <p:sp>
        <p:nvSpPr>
          <p:cNvPr id="842752167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16367020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PhAnim="0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20269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524535872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</a:fld>
            <a:endParaRPr lang="ru-RU"/>
          </a:p>
        </p:txBody>
      </p:sp>
      <p:sp>
        <p:nvSpPr>
          <p:cNvPr id="515113023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06713976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87436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</a:fld>
            <a:endParaRPr lang="ru-RU"/>
          </a:p>
        </p:txBody>
      </p:sp>
      <p:sp>
        <p:nvSpPr>
          <p:cNvPr id="157166898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67016683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PhAnim="0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3125285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49818390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447561358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452245596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</a:fld>
            <a:endParaRPr lang="ru-RU"/>
          </a:p>
        </p:txBody>
      </p:sp>
      <p:sp>
        <p:nvSpPr>
          <p:cNvPr id="3017494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25391670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PhAnim="0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339961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667264744" name="Рисунок 2"/>
          <p:cNvSpPr>
            <a:spLocks noGrp="1" noChangeAspect="1"/>
          </p:cNvSpPr>
          <p:nvPr>
            <p:ph type="pic" idx="1" hasCustomPrompt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  <a:endParaRPr lang="ru-RU"/>
          </a:p>
        </p:txBody>
      </p:sp>
      <p:sp>
        <p:nvSpPr>
          <p:cNvPr id="1926417926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25049743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</a:fld>
            <a:endParaRPr lang="ru-RU"/>
          </a:p>
        </p:txBody>
      </p:sp>
      <p:sp>
        <p:nvSpPr>
          <p:cNvPr id="1350028833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5724270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PhAnim="0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751770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633904208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2478389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</a:fld>
            <a:endParaRPr lang="ru-RU"/>
          </a:p>
        </p:txBody>
      </p:sp>
      <p:sp>
        <p:nvSpPr>
          <p:cNvPr id="1521509980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84055502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PhAnim="0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107515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670337078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330220087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</a:fld>
            <a:endParaRPr lang="ru-RU"/>
          </a:p>
        </p:txBody>
      </p:sp>
      <p:sp>
        <p:nvSpPr>
          <p:cNvPr id="912169741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71930060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itle Slide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16897" name="TextBox 6"/>
          <p:cNvSpPr txBox="1"/>
          <p:nvPr/>
        </p:nvSpPr>
        <p:spPr bwMode="auto">
          <a:xfrm>
            <a:off x="6797887" y="653698"/>
            <a:ext cx="246307" cy="4924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863719599" name="TextBox 7"/>
          <p:cNvSpPr txBox="1"/>
          <p:nvPr/>
        </p:nvSpPr>
        <p:spPr bwMode="auto">
          <a:xfrm>
            <a:off x="7881067" y="569650"/>
            <a:ext cx="246307" cy="4924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61752603" name="TextBox 1"/>
          <p:cNvSpPr txBox="1"/>
          <p:nvPr userDrawn="1"/>
        </p:nvSpPr>
        <p:spPr bwMode="auto">
          <a:xfrm>
            <a:off x="6797887" y="653698"/>
            <a:ext cx="246307" cy="4924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61016966" name="TextBox 2"/>
          <p:cNvSpPr txBox="1"/>
          <p:nvPr userDrawn="1"/>
        </p:nvSpPr>
        <p:spPr bwMode="auto">
          <a:xfrm>
            <a:off x="7881067" y="569650"/>
            <a:ext cx="246307" cy="4924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82764924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599" y="408579"/>
            <a:ext cx="9099175" cy="703045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770522097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609598" y="1386882"/>
            <a:ext cx="11185675" cy="4980050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2000"/>
            </a:lvl1pPr>
            <a:lvl2pPr marL="457200" indent="0">
              <a:buFont typeface="Arial" panose="020B0704020202020204"/>
              <a:buNone/>
              <a:defRPr sz="2400"/>
            </a:lvl2pPr>
            <a:lvl3pPr marL="914400" indent="0">
              <a:buFont typeface="Arial" panose="020B0704020202020204"/>
              <a:buNone/>
              <a:defRPr sz="2000"/>
            </a:lvl3pPr>
            <a:lvl4pPr marL="1371600" indent="0">
              <a:buFont typeface="Arial" panose="020B0704020202020204"/>
              <a:buNone/>
              <a:defRPr sz="1800"/>
            </a:lvl4pPr>
            <a:lvl5pPr marL="1828800" indent="0">
              <a:buFont typeface="Arial" panose="020B0704020202020204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20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 lang="ru-RU" sz="2000">
              <a:latin typeface="Golos Text"/>
            </a:endParaRPr>
          </a:p>
          <a:p>
            <a:pPr>
              <a:defRPr/>
            </a:pPr>
            <a:endParaRPr lang="ru-RU" sz="20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8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 lang="ru-RU" sz="1800" b="1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список;</a:t>
            </a:r>
            <a:endParaRPr lang="ru-RU" sz="18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список;</a:t>
            </a:r>
            <a:endParaRPr lang="ru-RU" sz="18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 lang="ru-RU" sz="1800" b="0" i="0">
              <a:solidFill>
                <a:srgbClr val="2C2D2E"/>
              </a:solidFill>
              <a:latin typeface="Golos Tex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Ckfql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50741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599" y="408579"/>
            <a:ext cx="9099175" cy="703045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497172340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609599" y="1615923"/>
            <a:ext cx="9956799" cy="4596190"/>
          </a:xfrm>
        </p:spPr>
        <p:txBody>
          <a:bodyPr/>
          <a:lstStyle>
            <a:lvl1pPr marL="0" indent="0">
              <a:buFont typeface="Arial" panose="020B0704020202020204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2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 lang="ru-RU" sz="2400">
              <a:latin typeface="Golos Text"/>
            </a:endParaRPr>
          </a:p>
          <a:p>
            <a:pPr>
              <a:defRPr/>
            </a:pPr>
            <a:endParaRPr lang="ru-RU" sz="24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20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 lang="ru-RU" sz="2000" b="1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список;</a:t>
            </a:r>
            <a:endParaRPr lang="ru-RU" sz="20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список;</a:t>
            </a:r>
            <a:endParaRPr lang="ru-RU" sz="20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 lang="ru-RU" sz="2000" b="0" i="0">
              <a:solidFill>
                <a:srgbClr val="2C2D2E"/>
              </a:solidFill>
              <a:latin typeface="Golos Tex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Пользовательский маке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777764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677331" y="2389714"/>
            <a:ext cx="4847773" cy="209822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 lang="ru-RU" sz="1200">
              <a:latin typeface="Golos Text"/>
            </a:endParaRPr>
          </a:p>
        </p:txBody>
      </p:sp>
      <p:sp>
        <p:nvSpPr>
          <p:cNvPr id="68905699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677331" y="1576611"/>
            <a:ext cx="3947883" cy="793446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 lang="ru-RU"/>
          </a:p>
        </p:txBody>
      </p:sp>
      <p:sp>
        <p:nvSpPr>
          <p:cNvPr id="323323193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6666894" y="4015314"/>
            <a:ext cx="4847773" cy="209822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/>
              <a:buNone/>
              <a:defRPr/>
            </a:lvl5pPr>
          </a:lstStyle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704020202020204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 lang="ru-RU" sz="1200">
              <a:latin typeface="Golos Text"/>
            </a:endParaRPr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 lang="ru-RU" sz="1200" b="1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 lang="ru-RU" sz="12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 lang="ru-RU" sz="12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 lang="ru-RU" sz="1200" b="0" i="0">
              <a:solidFill>
                <a:srgbClr val="2C2D2E"/>
              </a:solidFill>
              <a:latin typeface="Golos Text"/>
            </a:endParaRPr>
          </a:p>
        </p:txBody>
      </p:sp>
      <p:sp>
        <p:nvSpPr>
          <p:cNvPr id="1105535095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6666894" y="3202211"/>
            <a:ext cx="3947883" cy="793446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 lang="ru-RU"/>
          </a:p>
        </p:txBody>
      </p:sp>
      <p:sp>
        <p:nvSpPr>
          <p:cNvPr id="1642754156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599" y="408579"/>
            <a:ext cx="9099175" cy="703045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5_Custom Layout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8357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609599" y="1249135"/>
            <a:ext cx="6144683" cy="5122873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5611538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599" y="408579"/>
            <a:ext cx="8389257" cy="703045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52491841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7344227" y="1538514"/>
            <a:ext cx="3376990" cy="456716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 panose="020B0704020202020204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 lang="ru-RU" sz="1400">
              <a:latin typeface="Golos Tex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6_Пользовательский маке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95822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599" y="408579"/>
            <a:ext cx="9099175" cy="703045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84750669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609598" y="1386882"/>
            <a:ext cx="11185675" cy="4980050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 panose="020B0704020202020204"/>
              <a:buNone/>
              <a:defRPr sz="2400"/>
            </a:lvl2pPr>
            <a:lvl3pPr marL="914400" indent="0">
              <a:buFont typeface="Arial" panose="020B0704020202020204"/>
              <a:buNone/>
              <a:defRPr sz="2000"/>
            </a:lvl3pPr>
            <a:lvl4pPr marL="1371600" indent="0">
              <a:buFont typeface="Arial" panose="020B0704020202020204"/>
              <a:buNone/>
              <a:defRPr sz="1800"/>
            </a:lvl4pPr>
            <a:lvl5pPr marL="1828800" indent="0">
              <a:buFont typeface="Arial" panose="020B0704020202020204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704020202020204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 lang="ru-RU" sz="2000">
              <a:latin typeface="Golos Tex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9_Custom Layout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041786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832150" y="1644953"/>
            <a:ext cx="9560075" cy="454780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 lang="ru-RU" sz="1600">
              <a:latin typeface="Golos Text"/>
            </a:endParaRPr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 lang="ru-RU" sz="1400" b="1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 lang="ru-RU" sz="14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 lang="ru-RU" sz="14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 lang="ru-RU" sz="1400" b="0" i="0">
              <a:solidFill>
                <a:srgbClr val="2C2D2E"/>
              </a:solidFill>
              <a:latin typeface="Golos Text"/>
            </a:endParaRPr>
          </a:p>
        </p:txBody>
      </p:sp>
      <p:sp>
        <p:nvSpPr>
          <p:cNvPr id="1882413446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599" y="408579"/>
            <a:ext cx="9099175" cy="703045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_Custom Layout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481061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677331" y="2389714"/>
            <a:ext cx="4847773" cy="2098226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 lang="ru-RU" sz="1200">
              <a:latin typeface="Golos Text"/>
            </a:endParaRPr>
          </a:p>
        </p:txBody>
      </p:sp>
      <p:sp>
        <p:nvSpPr>
          <p:cNvPr id="1345919662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677331" y="1576611"/>
            <a:ext cx="3947883" cy="793446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 lang="ru-RU"/>
          </a:p>
        </p:txBody>
      </p:sp>
      <p:sp>
        <p:nvSpPr>
          <p:cNvPr id="165316619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599" y="408579"/>
            <a:ext cx="9099175" cy="703045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575911282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6666894" y="4015314"/>
            <a:ext cx="4847773" cy="2098226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/>
              <a:buNone/>
              <a:defRPr/>
            </a:lvl5pPr>
          </a:lstStyle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704020202020204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 lang="ru-RU" sz="1200">
              <a:latin typeface="Golos Text"/>
            </a:endParaRPr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 lang="ru-RU" sz="1200" b="1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 lang="ru-RU" sz="12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 lang="ru-RU" sz="12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 lang="ru-RU" sz="1200" b="0" i="0">
              <a:solidFill>
                <a:srgbClr val="2C2D2E"/>
              </a:solidFill>
              <a:latin typeface="Golos Text"/>
            </a:endParaRPr>
          </a:p>
        </p:txBody>
      </p:sp>
      <p:sp>
        <p:nvSpPr>
          <p:cNvPr id="647150071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6666894" y="3202211"/>
            <a:ext cx="3947883" cy="793446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3_Пользовательский маке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3467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599" y="408579"/>
            <a:ext cx="9099175" cy="703045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2093284697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609599" y="1249135"/>
            <a:ext cx="6144683" cy="5122873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10101033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7344227" y="1538514"/>
            <a:ext cx="3376990" cy="456716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 panose="020B0704020202020204"/>
              <a:buNone/>
              <a:defRPr sz="1400"/>
            </a:lvl5pPr>
          </a:lstStyle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704020202020204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 lang="ru-RU" sz="1400">
              <a:latin typeface="Golos Text"/>
            </a:endParaRPr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 lang="ru-RU" sz="1400" b="1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 lang="ru-RU" sz="14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 lang="ru-RU" sz="14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 lang="ru-RU" sz="1400" b="0" i="0">
              <a:solidFill>
                <a:srgbClr val="2C2D2E"/>
              </a:solidFill>
              <a:latin typeface="Golos Text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7_Пользовательский маке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21596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599" y="408579"/>
            <a:ext cx="9099175" cy="703045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2120329536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609598" y="1386882"/>
            <a:ext cx="11185675" cy="4980050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 panose="020B0704020202020204"/>
              <a:buNone/>
              <a:defRPr sz="2400"/>
            </a:lvl2pPr>
            <a:lvl3pPr marL="914400" indent="0">
              <a:buFont typeface="Arial" panose="020B0704020202020204"/>
              <a:buNone/>
              <a:defRPr sz="2000"/>
            </a:lvl3pPr>
            <a:lvl4pPr marL="1371600" indent="0">
              <a:buFont typeface="Arial" panose="020B0704020202020204"/>
              <a:buNone/>
              <a:defRPr sz="1800"/>
            </a:lvl4pPr>
            <a:lvl5pPr marL="1828800" indent="0">
              <a:buFont typeface="Arial" panose="020B0704020202020204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704020202020204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 lang="ru-RU" sz="2000">
              <a:latin typeface="Golos Text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3_Custom Layout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488997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832150" y="1644953"/>
            <a:ext cx="9560075" cy="454780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 lang="ru-RU" sz="1600">
              <a:latin typeface="Golos Text"/>
            </a:endParaRPr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 lang="ru-RU" sz="1400" b="1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 lang="ru-RU" sz="14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 lang="ru-RU" sz="14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 lang="ru-RU" sz="1400" b="0" i="0">
              <a:solidFill>
                <a:srgbClr val="2C2D2E"/>
              </a:solidFill>
              <a:latin typeface="Golos Text"/>
            </a:endParaRPr>
          </a:p>
        </p:txBody>
      </p:sp>
      <p:sp>
        <p:nvSpPr>
          <p:cNvPr id="2080748498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599" y="408579"/>
            <a:ext cx="9099175" cy="703045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_Пользовательский маке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471484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677331" y="2389714"/>
            <a:ext cx="4847773" cy="2098226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 lang="ru-RU" sz="1200">
              <a:latin typeface="Golos Text"/>
            </a:endParaRPr>
          </a:p>
        </p:txBody>
      </p:sp>
      <p:sp>
        <p:nvSpPr>
          <p:cNvPr id="1246668040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677331" y="1576611"/>
            <a:ext cx="3947883" cy="793446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 lang="ru-RU"/>
          </a:p>
        </p:txBody>
      </p:sp>
      <p:sp>
        <p:nvSpPr>
          <p:cNvPr id="1848153804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6666894" y="4015314"/>
            <a:ext cx="4847773" cy="2098226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/>
              <a:buNone/>
              <a:defRPr/>
            </a:lvl5pPr>
          </a:lstStyle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704020202020204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 lang="ru-RU" sz="1200">
              <a:latin typeface="Golos Text"/>
            </a:endParaRPr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 lang="ru-RU" sz="1200" b="1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 lang="ru-RU" sz="12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 lang="ru-RU" sz="12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 lang="ru-RU" sz="1200" b="0" i="0">
              <a:solidFill>
                <a:srgbClr val="2C2D2E"/>
              </a:solidFill>
              <a:latin typeface="Golos Text"/>
            </a:endParaRPr>
          </a:p>
        </p:txBody>
      </p:sp>
      <p:sp>
        <p:nvSpPr>
          <p:cNvPr id="206198068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6666894" y="3202211"/>
            <a:ext cx="3947883" cy="793446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 lang="ru-RU"/>
          </a:p>
        </p:txBody>
      </p:sp>
      <p:sp>
        <p:nvSpPr>
          <p:cNvPr id="1876310571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599" y="408579"/>
            <a:ext cx="9099175" cy="703045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4_Пользовательский маке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83685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599" y="408579"/>
            <a:ext cx="9099175" cy="703045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01108827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609599" y="1249135"/>
            <a:ext cx="6144683" cy="5122873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51675188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7344227" y="1538514"/>
            <a:ext cx="3376990" cy="456716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 panose="020B0704020202020204"/>
              <a:buNone/>
              <a:defRPr sz="1400"/>
            </a:lvl5pPr>
          </a:lstStyle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704020202020204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 lang="ru-RU" sz="1400">
              <a:latin typeface="Golos Text"/>
            </a:endParaRPr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 lang="ru-RU" sz="1400" b="1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 lang="ru-RU" sz="14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 lang="ru-RU" sz="14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 lang="ru-RU" sz="1400" b="0" i="0">
              <a:solidFill>
                <a:srgbClr val="2C2D2E"/>
              </a:solidFill>
              <a:latin typeface="Golos Tex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8_Пользовательский маке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82770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599" y="408579"/>
            <a:ext cx="9099175" cy="703045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22730985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609598" y="1386882"/>
            <a:ext cx="11185675" cy="4980050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 panose="020B0704020202020204"/>
              <a:buNone/>
              <a:defRPr sz="2400"/>
            </a:lvl2pPr>
            <a:lvl3pPr marL="914400" indent="0">
              <a:buFont typeface="Arial" panose="020B0704020202020204"/>
              <a:buNone/>
              <a:defRPr sz="2000"/>
            </a:lvl3pPr>
            <a:lvl4pPr marL="1371600" indent="0">
              <a:buFont typeface="Arial" panose="020B0704020202020204"/>
              <a:buNone/>
              <a:defRPr sz="1800"/>
            </a:lvl4pPr>
            <a:lvl5pPr marL="1828800" indent="0">
              <a:buFont typeface="Arial" panose="020B0704020202020204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704020202020204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 lang="ru-RU" sz="2000">
              <a:latin typeface="Golos Tex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Финал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109617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832150" y="1644953"/>
            <a:ext cx="9560075" cy="4547807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</a:t>
            </a:r>
            <a:endParaRPr lang="ru-RU" sz="1600">
              <a:latin typeface="Golos Text"/>
            </a:endParaRPr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6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 lang="ru-RU" sz="1600" b="1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список;</a:t>
            </a:r>
            <a:endParaRPr lang="ru-RU" sz="16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список;</a:t>
            </a:r>
            <a:endParaRPr lang="ru-RU" sz="16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конец списка.</a:t>
            </a:r>
            <a:endParaRPr lang="ru-RU" sz="1600" b="0" i="0">
              <a:solidFill>
                <a:srgbClr val="2C2D2E"/>
              </a:solidFill>
              <a:latin typeface="Golos Text"/>
            </a:endParaRPr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</p:txBody>
      </p:sp>
      <p:sp>
        <p:nvSpPr>
          <p:cNvPr id="172620578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599" y="408579"/>
            <a:ext cx="9099175" cy="703045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2_Пользовательский маке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324248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599" y="408579"/>
            <a:ext cx="9099175" cy="703045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84158044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677331" y="2389714"/>
            <a:ext cx="4847773" cy="2098226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 lang="ru-RU" sz="1200">
              <a:latin typeface="Golos Text"/>
            </a:endParaRPr>
          </a:p>
        </p:txBody>
      </p:sp>
      <p:sp>
        <p:nvSpPr>
          <p:cNvPr id="888555016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677331" y="1576611"/>
            <a:ext cx="3947883" cy="793446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 lang="ru-RU"/>
          </a:p>
        </p:txBody>
      </p:sp>
      <p:sp>
        <p:nvSpPr>
          <p:cNvPr id="605150564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6666894" y="4015314"/>
            <a:ext cx="4847773" cy="2098226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704020202020204"/>
              <a:buNone/>
              <a:defRPr/>
            </a:lvl5pPr>
          </a:lstStyle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704020202020204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 lang="ru-RU" sz="1200">
              <a:latin typeface="Golos Text"/>
            </a:endParaRPr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 lang="ru-RU" sz="1200" b="1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 lang="ru-RU" sz="12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 lang="ru-RU" sz="12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 lang="ru-RU" sz="1200" b="0" i="0">
              <a:solidFill>
                <a:srgbClr val="2C2D2E"/>
              </a:solidFill>
              <a:latin typeface="Golos Text"/>
            </a:endParaRPr>
          </a:p>
        </p:txBody>
      </p:sp>
      <p:sp>
        <p:nvSpPr>
          <p:cNvPr id="1418042490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6666894" y="3202211"/>
            <a:ext cx="3947883" cy="793446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 lang="ru-R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5_Пользовательский маке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5791239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609599" y="1249135"/>
            <a:ext cx="6144683" cy="5122873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2582402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599" y="408579"/>
            <a:ext cx="9099175" cy="703045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60629849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7344227" y="1538514"/>
            <a:ext cx="3376990" cy="456716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 panose="020B0704020202020204"/>
              <a:buNone/>
              <a:defRPr sz="1400"/>
            </a:lvl5pPr>
          </a:lstStyle>
          <a:p>
            <a:pPr marL="0" marR="0" lv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704020202020204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 lang="ru-RU" sz="1400">
              <a:latin typeface="Golos Text"/>
            </a:endParaRPr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 lang="ru-RU" sz="1400" b="1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 lang="ru-RU" sz="14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 lang="ru-RU" sz="1400" b="0" i="0">
              <a:solidFill>
                <a:srgbClr val="2C2D2E"/>
              </a:solidFill>
              <a:latin typeface="Golos Text"/>
            </a:endParaRPr>
          </a:p>
          <a:p>
            <a:pPr algn="l">
              <a:buFont typeface="Arial" panose="020B0704020202020204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 lang="ru-RU" sz="1400" b="0" i="0">
              <a:solidFill>
                <a:srgbClr val="2C2D2E"/>
              </a:solidFill>
              <a:latin typeface="Golos Tex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6_Custom Layout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238336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599" y="408579"/>
            <a:ext cx="8389257" cy="703045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92824108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136570" y="1257610"/>
            <a:ext cx="7368419" cy="51673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 panose="020B0704020202020204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 lang="ru-RU" sz="1400">
              <a:latin typeface="Golos Text"/>
            </a:endParaRPr>
          </a:p>
        </p:txBody>
      </p:sp>
      <p:sp>
        <p:nvSpPr>
          <p:cNvPr id="962581325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609599" y="1257610"/>
            <a:ext cx="3376991" cy="2510697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17463150" name="Рисунок 2"/>
          <p:cNvSpPr>
            <a:spLocks noGrp="1"/>
          </p:cNvSpPr>
          <p:nvPr>
            <p:ph type="pic" sz="quarter" idx="14"/>
          </p:nvPr>
        </p:nvSpPr>
        <p:spPr bwMode="auto">
          <a:xfrm>
            <a:off x="609599" y="3914293"/>
            <a:ext cx="3376991" cy="2510697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9_Пользовательский макет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67342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09601" y="1412429"/>
            <a:ext cx="5196114" cy="231290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 panose="020B0704020202020204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 lang="ru-RU" sz="1400">
              <a:latin typeface="Golos Text"/>
            </a:endParaRPr>
          </a:p>
        </p:txBody>
      </p:sp>
      <p:sp>
        <p:nvSpPr>
          <p:cNvPr id="1053090293" name="Текст 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609602" y="4141114"/>
            <a:ext cx="5196111" cy="218711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 panose="020B0704020202020204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 lang="ru-RU" sz="1400">
              <a:latin typeface="Golos Text"/>
            </a:endParaRPr>
          </a:p>
        </p:txBody>
      </p:sp>
      <p:sp>
        <p:nvSpPr>
          <p:cNvPr id="1606165305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6386285" y="1412429"/>
            <a:ext cx="4842934" cy="491579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 panose="020B0704020202020204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 lang="ru-RU" sz="1400">
              <a:latin typeface="Golos Text"/>
            </a:endParaRPr>
          </a:p>
        </p:txBody>
      </p:sp>
      <p:sp>
        <p:nvSpPr>
          <p:cNvPr id="47499494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599" y="408579"/>
            <a:ext cx="8389257" cy="703045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4_Custom Layout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565574" name="Text Placeholder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609601" y="3911869"/>
            <a:ext cx="3452283" cy="358774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 lang="ru-RU"/>
          </a:p>
        </p:txBody>
      </p:sp>
      <p:sp>
        <p:nvSpPr>
          <p:cNvPr id="1047832672" name="Text Placeholder 2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4279271" y="3911869"/>
            <a:ext cx="3452283" cy="358774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 lang="ru-RU"/>
          </a:p>
        </p:txBody>
      </p:sp>
      <p:sp>
        <p:nvSpPr>
          <p:cNvPr id="148115155" name="Text Placeholder 2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959738" y="3911869"/>
            <a:ext cx="3452283" cy="358774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 lang="ru-RU"/>
          </a:p>
        </p:txBody>
      </p:sp>
      <p:sp>
        <p:nvSpPr>
          <p:cNvPr id="1607142882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609599" y="4383770"/>
            <a:ext cx="3451843" cy="186073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 lang="ru-RU"/>
          </a:p>
        </p:txBody>
      </p:sp>
      <p:sp>
        <p:nvSpPr>
          <p:cNvPr id="1631468227" name="Content Placeholder 3"/>
          <p:cNvSpPr>
            <a:spLocks noGrp="1"/>
          </p:cNvSpPr>
          <p:nvPr>
            <p:ph sz="half" idx="2" hasCustomPrompt="1"/>
          </p:nvPr>
        </p:nvSpPr>
        <p:spPr bwMode="auto">
          <a:xfrm>
            <a:off x="4276334" y="4399437"/>
            <a:ext cx="3455221" cy="1860730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 lang="ru-RU"/>
          </a:p>
        </p:txBody>
      </p:sp>
      <p:sp>
        <p:nvSpPr>
          <p:cNvPr id="90564794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599" y="408579"/>
            <a:ext cx="8389257" cy="703045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101756871" name="Content Placeholder 3"/>
          <p:cNvSpPr>
            <a:spLocks noGrp="1"/>
          </p:cNvSpPr>
          <p:nvPr>
            <p:ph sz="half" idx="26" hasCustomPrompt="1"/>
          </p:nvPr>
        </p:nvSpPr>
        <p:spPr bwMode="auto">
          <a:xfrm>
            <a:off x="7956799" y="4399437"/>
            <a:ext cx="3455221" cy="1860730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 lang="ru-RU"/>
          </a:p>
        </p:txBody>
      </p:sp>
      <p:sp>
        <p:nvSpPr>
          <p:cNvPr id="1958495057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625441" y="1259283"/>
            <a:ext cx="3436001" cy="2510697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04861364" name="Рисунок 2"/>
          <p:cNvSpPr>
            <a:spLocks noGrp="1"/>
          </p:cNvSpPr>
          <p:nvPr>
            <p:ph type="pic" sz="quarter" idx="27"/>
          </p:nvPr>
        </p:nvSpPr>
        <p:spPr bwMode="auto">
          <a:xfrm>
            <a:off x="4295554" y="1259282"/>
            <a:ext cx="3436001" cy="2510697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86032716" name="Рисунок 2"/>
          <p:cNvSpPr>
            <a:spLocks noGrp="1"/>
          </p:cNvSpPr>
          <p:nvPr>
            <p:ph type="pic" sz="quarter" idx="28"/>
          </p:nvPr>
        </p:nvSpPr>
        <p:spPr bwMode="auto">
          <a:xfrm>
            <a:off x="7974253" y="1259283"/>
            <a:ext cx="3436001" cy="2510697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7_Custom Layout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203780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599" y="408579"/>
            <a:ext cx="8389257" cy="703045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59425142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7644190" y="1265771"/>
            <a:ext cx="3860799" cy="5194297"/>
          </a:xfrm>
        </p:spPr>
        <p:txBody>
          <a:bodyPr>
            <a:normAutofit/>
          </a:bodyPr>
          <a:lstStyle>
            <a:lvl1pPr marL="0" indent="0">
              <a:buNone/>
              <a:defRPr sz="14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 panose="020B0704020202020204"/>
              <a:buNone/>
              <a:defRPr sz="1400"/>
            </a:lvl5pPr>
          </a:lstStyle>
          <a:p>
            <a:pPr lvl="0">
              <a:defRPr/>
            </a:pPr>
            <a:r>
              <a:rPr lang="ru-RU"/>
              <a:t>Текст</a:t>
            </a:r>
            <a:endParaRPr lang="ru-RU"/>
          </a:p>
        </p:txBody>
      </p:sp>
      <p:sp>
        <p:nvSpPr>
          <p:cNvPr id="1884296258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609599" y="1265771"/>
            <a:ext cx="3376991" cy="2510697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37528066" name="Рисунок 2"/>
          <p:cNvSpPr>
            <a:spLocks noGrp="1"/>
          </p:cNvSpPr>
          <p:nvPr>
            <p:ph type="pic" sz="quarter" idx="16"/>
          </p:nvPr>
        </p:nvSpPr>
        <p:spPr bwMode="auto">
          <a:xfrm>
            <a:off x="4126893" y="1265770"/>
            <a:ext cx="3376991" cy="2510697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88058921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4126893" y="3949374"/>
            <a:ext cx="3376991" cy="2510697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35525050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609598" y="3949374"/>
            <a:ext cx="3376991" cy="2510697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8_Custom Layout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043468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599" y="408579"/>
            <a:ext cx="8389257" cy="703045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615139997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609601" y="1284529"/>
            <a:ext cx="3376991" cy="2510697"/>
          </a:xfrm>
        </p:spPr>
        <p:txBody>
          <a:bodyPr>
            <a:normAutofit/>
          </a:bodyPr>
          <a:lstStyle>
            <a:lvl1pPr marL="0" indent="0">
              <a:buNone/>
              <a:defRPr sz="1800" b="1" i="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 panose="020B0704020202020204"/>
              <a:buNone/>
              <a:defRPr sz="1400"/>
            </a:lvl5pPr>
          </a:lstStyle>
          <a:p>
            <a:pPr lvl="0">
              <a:defRPr/>
            </a:pPr>
            <a:r>
              <a:rPr lang="ru-RU"/>
              <a:t>Ключевая фраза слайда</a:t>
            </a:r>
            <a:endParaRPr lang="ru-RU"/>
          </a:p>
        </p:txBody>
      </p:sp>
      <p:sp>
        <p:nvSpPr>
          <p:cNvPr id="997209861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4126893" y="1284529"/>
            <a:ext cx="3376991" cy="2510697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11451770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7644187" y="1289237"/>
            <a:ext cx="3376991" cy="2510697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80019204" name="Рисунок 2"/>
          <p:cNvSpPr>
            <a:spLocks noGrp="1"/>
          </p:cNvSpPr>
          <p:nvPr>
            <p:ph type="pic" sz="quarter" idx="19"/>
          </p:nvPr>
        </p:nvSpPr>
        <p:spPr bwMode="auto">
          <a:xfrm>
            <a:off x="7644187" y="3938722"/>
            <a:ext cx="3376991" cy="2510697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48559703" name="Рисунок 2"/>
          <p:cNvSpPr>
            <a:spLocks noGrp="1"/>
          </p:cNvSpPr>
          <p:nvPr>
            <p:ph type="pic" sz="quarter" idx="20"/>
          </p:nvPr>
        </p:nvSpPr>
        <p:spPr bwMode="auto">
          <a:xfrm>
            <a:off x="4126893" y="3947085"/>
            <a:ext cx="3376991" cy="2510697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40460684" name="Рисунок 2"/>
          <p:cNvSpPr>
            <a:spLocks noGrp="1"/>
          </p:cNvSpPr>
          <p:nvPr>
            <p:ph type="pic" sz="quarter" idx="21"/>
          </p:nvPr>
        </p:nvSpPr>
        <p:spPr bwMode="auto">
          <a:xfrm>
            <a:off x="609599" y="3947085"/>
            <a:ext cx="3376991" cy="2510697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0_Custom Layout">
    <p:bg>
      <p:bgPr>
        <a:blipFill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101386" name="Text Placeholder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609601" y="3156859"/>
            <a:ext cx="3452283" cy="358774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 lang="ru-RU"/>
          </a:p>
        </p:txBody>
      </p:sp>
      <p:sp>
        <p:nvSpPr>
          <p:cNvPr id="1627417391" name="Text Placeholder 2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4367758" y="3156859"/>
            <a:ext cx="3452283" cy="358774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 lang="ru-RU"/>
          </a:p>
        </p:txBody>
      </p:sp>
      <p:sp>
        <p:nvSpPr>
          <p:cNvPr id="889495330" name="Text Placeholder 2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114274" y="3156859"/>
            <a:ext cx="3452283" cy="358774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 lang="ru-RU"/>
          </a:p>
        </p:txBody>
      </p:sp>
      <p:sp>
        <p:nvSpPr>
          <p:cNvPr id="11440292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599" y="408579"/>
            <a:ext cx="8389257" cy="703045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203689882" name="Рисунок 2"/>
          <p:cNvSpPr>
            <a:spLocks noGrp="1"/>
          </p:cNvSpPr>
          <p:nvPr>
            <p:ph type="pic" sz="quarter" idx="31" hasCustomPrompt="1"/>
          </p:nvPr>
        </p:nvSpPr>
        <p:spPr bwMode="auto">
          <a:xfrm>
            <a:off x="605399" y="1270142"/>
            <a:ext cx="3452283" cy="1739058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 lang="ru-RU"/>
          </a:p>
        </p:txBody>
      </p:sp>
      <p:sp>
        <p:nvSpPr>
          <p:cNvPr id="1670227383" name="Рисунок 2"/>
          <p:cNvSpPr>
            <a:spLocks noGrp="1"/>
          </p:cNvSpPr>
          <p:nvPr>
            <p:ph type="pic" sz="quarter" idx="32" hasCustomPrompt="1"/>
          </p:nvPr>
        </p:nvSpPr>
        <p:spPr bwMode="auto">
          <a:xfrm>
            <a:off x="4367757" y="1270142"/>
            <a:ext cx="3452283" cy="1739058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 lang="ru-RU"/>
          </a:p>
        </p:txBody>
      </p:sp>
      <p:sp>
        <p:nvSpPr>
          <p:cNvPr id="363496950" name="Рисунок 2"/>
          <p:cNvSpPr>
            <a:spLocks noGrp="1"/>
          </p:cNvSpPr>
          <p:nvPr>
            <p:ph type="pic" sz="quarter" idx="33" hasCustomPrompt="1"/>
          </p:nvPr>
        </p:nvSpPr>
        <p:spPr bwMode="auto">
          <a:xfrm>
            <a:off x="8119718" y="1270142"/>
            <a:ext cx="3452283" cy="1739058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 lang="ru-RU"/>
          </a:p>
        </p:txBody>
      </p:sp>
      <p:sp>
        <p:nvSpPr>
          <p:cNvPr id="1445036833" name="Text Placeholder 2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613801" y="5708527"/>
            <a:ext cx="3452283" cy="358774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 lang="ru-RU"/>
          </a:p>
        </p:txBody>
      </p:sp>
      <p:sp>
        <p:nvSpPr>
          <p:cNvPr id="1182319088" name="Text Placeholder 24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4371959" y="5708527"/>
            <a:ext cx="3452283" cy="358774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 lang="ru-RU"/>
          </a:p>
        </p:txBody>
      </p:sp>
      <p:sp>
        <p:nvSpPr>
          <p:cNvPr id="936524806" name="Text Placeholder 24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8118475" y="5708527"/>
            <a:ext cx="3452283" cy="358774"/>
          </a:xfrm>
        </p:spPr>
        <p:txBody>
          <a:bodyPr>
            <a:normAutofit/>
          </a:bodyPr>
          <a:lstStyle>
            <a:lvl1pPr marL="0" indent="0">
              <a:buFont typeface="Arial" panose="020B0704020202020204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 lang="ru-RU"/>
          </a:p>
        </p:txBody>
      </p:sp>
      <p:sp>
        <p:nvSpPr>
          <p:cNvPr id="1042603819" name="Рисунок 2"/>
          <p:cNvSpPr>
            <a:spLocks noGrp="1"/>
          </p:cNvSpPr>
          <p:nvPr>
            <p:ph type="pic" sz="quarter" idx="37" hasCustomPrompt="1"/>
          </p:nvPr>
        </p:nvSpPr>
        <p:spPr bwMode="auto">
          <a:xfrm>
            <a:off x="609601" y="3821810"/>
            <a:ext cx="3452283" cy="1739058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 lang="ru-RU"/>
          </a:p>
        </p:txBody>
      </p:sp>
      <p:sp>
        <p:nvSpPr>
          <p:cNvPr id="168312515" name="Рисунок 2"/>
          <p:cNvSpPr>
            <a:spLocks noGrp="1"/>
          </p:cNvSpPr>
          <p:nvPr>
            <p:ph type="pic" sz="quarter" idx="38" hasCustomPrompt="1"/>
          </p:nvPr>
        </p:nvSpPr>
        <p:spPr bwMode="auto">
          <a:xfrm>
            <a:off x="4371958" y="3821810"/>
            <a:ext cx="3452283" cy="1739058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 lang="ru-RU"/>
          </a:p>
        </p:txBody>
      </p:sp>
      <p:sp>
        <p:nvSpPr>
          <p:cNvPr id="689746408" name="Рисунок 2"/>
          <p:cNvSpPr>
            <a:spLocks noGrp="1"/>
          </p:cNvSpPr>
          <p:nvPr>
            <p:ph type="pic" sz="quarter" idx="39" hasCustomPrompt="1"/>
          </p:nvPr>
        </p:nvSpPr>
        <p:spPr bwMode="auto">
          <a:xfrm>
            <a:off x="8123919" y="3821810"/>
            <a:ext cx="3452283" cy="1739058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3" Type="http://schemas.openxmlformats.org/officeDocument/2006/relationships/theme" Target="../theme/theme2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80184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819577129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  <a:p>
            <a:pPr lvl="1">
              <a:defRPr/>
            </a:pPr>
            <a:r>
              <a:rPr lang="ru-RU"/>
              <a:t>Второй уровень</a:t>
            </a:r>
            <a:endParaRPr lang="ru-RU"/>
          </a:p>
          <a:p>
            <a:pPr lvl="2">
              <a:defRPr/>
            </a:pPr>
            <a:r>
              <a:rPr lang="ru-RU"/>
              <a:t>Третий уровень</a:t>
            </a:r>
            <a:endParaRPr lang="ru-RU"/>
          </a:p>
          <a:p>
            <a:pPr lvl="3">
              <a:defRPr/>
            </a:pPr>
            <a:r>
              <a:rPr lang="ru-RU"/>
              <a:t>Четвертый уровень</a:t>
            </a:r>
            <a:endParaRPr lang="ru-RU"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2534131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</a:fld>
            <a:endParaRPr lang="ru-RU"/>
          </a:p>
        </p:txBody>
      </p:sp>
      <p:sp>
        <p:nvSpPr>
          <p:cNvPr id="80872319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009297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 panose="020B0704020202020204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 panose="020B0704020202020204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 panose="020B0704020202020204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 panose="020B07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 panose="020B07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 panose="020B07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 panose="020B07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 panose="020B07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 panose="020B07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077163" name="Title Placeholder 1"/>
          <p:cNvSpPr>
            <a:spLocks noGrp="1"/>
          </p:cNvSpPr>
          <p:nvPr>
            <p:ph type="title"/>
          </p:nvPr>
        </p:nvSpPr>
        <p:spPr bwMode="auto">
          <a:xfrm>
            <a:off x="609599" y="408578"/>
            <a:ext cx="10972800" cy="8273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29623676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495882"/>
            <a:ext cx="10972800" cy="3866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1113516563" name="TextBox 3"/>
          <p:cNvSpPr txBox="1"/>
          <p:nvPr/>
        </p:nvSpPr>
        <p:spPr bwMode="auto">
          <a:xfrm>
            <a:off x="-1153401" y="5512166"/>
            <a:ext cx="246307" cy="4924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650116419" name="TextBox 4"/>
          <p:cNvSpPr txBox="1"/>
          <p:nvPr userDrawn="1"/>
        </p:nvSpPr>
        <p:spPr bwMode="auto">
          <a:xfrm>
            <a:off x="-1153401" y="5512166"/>
            <a:ext cx="246307" cy="4924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hf sldNum="0" hdr="0" dt="0"/>
  <p:txStyles>
    <p:titleStyle>
      <a:lvl1pPr algn="l" defTabSz="457200" rtl="0">
        <a:spcBef>
          <a:spcPts val="0"/>
        </a:spcBef>
        <a:buNone/>
        <a:defRPr sz="3600" b="1" i="0">
          <a:solidFill>
            <a:schemeClr val="tx1"/>
          </a:solidFill>
          <a:latin typeface="ALS Gorizont Bold Expanded"/>
          <a:ea typeface="+mj-ea"/>
          <a:cs typeface="+mj-cs"/>
        </a:defRPr>
      </a:lvl1pPr>
    </p:titleStyle>
    <p:bodyStyle>
      <a:lvl1pPr marL="0" indent="0" algn="l" defTabSz="457200" rtl="0">
        <a:spcBef>
          <a:spcPts val="0"/>
        </a:spcBef>
        <a:buSzPct val="100000"/>
        <a:buFont typeface="Arial" panose="020B0704020202020204"/>
        <a:buNone/>
        <a:defRPr sz="2000">
          <a:solidFill>
            <a:schemeClr val="tx1"/>
          </a:solidFill>
          <a:latin typeface="Golos Text"/>
          <a:ea typeface="+mn-ea"/>
          <a:cs typeface="Golos Text"/>
        </a:defRPr>
      </a:lvl1pPr>
      <a:lvl2pPr marL="742950" indent="-285750" algn="l" defTabSz="457200" rtl="0">
        <a:spcBef>
          <a:spcPts val="0"/>
        </a:spcBef>
        <a:buFont typeface="Arial" panose="020B0704020202020204"/>
        <a:buChar char="•"/>
        <a:defRPr sz="2000">
          <a:solidFill>
            <a:schemeClr val="tx1"/>
          </a:solidFill>
          <a:latin typeface="Golos Text"/>
          <a:ea typeface="+mn-ea"/>
          <a:cs typeface="Golos Text"/>
        </a:defRPr>
      </a:lvl2pPr>
      <a:lvl3pPr marL="1143000" indent="-228600" algn="l" defTabSz="457200" rtl="0">
        <a:spcBef>
          <a:spcPts val="0"/>
        </a:spcBef>
        <a:buFont typeface="Arial" panose="020B0704020202020204"/>
        <a:buChar char="•"/>
        <a:defRPr sz="1600">
          <a:solidFill>
            <a:schemeClr val="tx1"/>
          </a:solidFill>
          <a:latin typeface="Golos Text"/>
          <a:ea typeface="+mn-ea"/>
          <a:cs typeface="Golos Text"/>
        </a:defRPr>
      </a:lvl3pPr>
      <a:lvl4pPr marL="1600200" indent="-228600" algn="l" defTabSz="457200" rtl="0">
        <a:spcBef>
          <a:spcPts val="0"/>
        </a:spcBef>
        <a:buFont typeface="Arial" panose="020B0704020202020204"/>
        <a:buChar char="•"/>
        <a:defRPr sz="1600">
          <a:solidFill>
            <a:schemeClr val="tx1"/>
          </a:solidFill>
          <a:latin typeface="Golos Text"/>
          <a:ea typeface="+mn-ea"/>
          <a:cs typeface="Golos Text"/>
        </a:defRPr>
      </a:lvl4pPr>
      <a:lvl5pPr marL="1828800" indent="0" algn="l" defTabSz="457200" rtl="0">
        <a:spcBef>
          <a:spcPts val="0"/>
        </a:spcBef>
        <a:buFont typeface="Arial" panose="020B0704020202020204"/>
        <a:buNone/>
        <a:defRPr sz="1600">
          <a:solidFill>
            <a:schemeClr val="tx1"/>
          </a:solidFill>
          <a:latin typeface="Golos Text"/>
          <a:ea typeface="+mn-ea"/>
          <a:cs typeface="Golos Text"/>
        </a:defRPr>
      </a:lvl5pPr>
      <a:lvl6pPr marL="2514600" indent="-228600" algn="l" defTabSz="457200" rtl="0">
        <a:spcBef>
          <a:spcPts val="0"/>
        </a:spcBef>
        <a:buFont typeface="Arial" panose="020B0704020202020204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 panose="020B0704020202020204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 panose="020B0704020202020204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 panose="020B0704020202020204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467600" name="Title 4"/>
          <p:cNvSpPr>
            <a:spLocks noGrp="1"/>
          </p:cNvSpPr>
          <p:nvPr>
            <p:ph type="title"/>
          </p:nvPr>
        </p:nvSpPr>
        <p:spPr bwMode="auto">
          <a:xfrm>
            <a:off x="1828800" y="2489199"/>
            <a:ext cx="8534399" cy="939799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400">
                <a:solidFill>
                  <a:schemeClr val="bg1"/>
                </a:solidFill>
              </a:rPr>
              <a:t>Лабораторная работа</a:t>
            </a:r>
            <a:endParaRPr lang="en-US" sz="4400">
              <a:solidFill>
                <a:schemeClr val="bg1"/>
              </a:solidFill>
            </a:endParaRPr>
          </a:p>
        </p:txBody>
      </p:sp>
      <p:sp>
        <p:nvSpPr>
          <p:cNvPr id="1118089469" name="Text Box 1118089468"/>
          <p:cNvSpPr txBox="1"/>
          <p:nvPr/>
        </p:nvSpPr>
        <p:spPr bwMode="auto">
          <a:xfrm>
            <a:off x="3440471" y="4368362"/>
            <a:ext cx="531249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189074913" name="Text Box 189074912"/>
          <p:cNvSpPr txBox="1"/>
          <p:nvPr/>
        </p:nvSpPr>
        <p:spPr bwMode="auto">
          <a:xfrm>
            <a:off x="7391206" y="5548327"/>
            <a:ext cx="5139590" cy="132207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chemeClr val="bg1"/>
                </a:solidFill>
              </a:rPr>
              <a:t>Работа выполнена студентами группы </a:t>
            </a:r>
            <a:r>
              <a:rPr lang="en-US" sz="1600">
                <a:solidFill>
                  <a:schemeClr val="bg1"/>
                </a:solidFill>
              </a:rPr>
              <a:t>K3239</a:t>
            </a:r>
            <a:endParaRPr sz="1600">
              <a:solidFill>
                <a:schemeClr val="bg1"/>
              </a:solidFill>
            </a:endParaRPr>
          </a:p>
          <a:p>
            <a:pPr>
              <a:defRPr/>
            </a:pPr>
            <a:r>
              <a:rPr lang="ru-RU" sz="1600">
                <a:solidFill>
                  <a:schemeClr val="bg1"/>
                </a:solidFill>
              </a:rPr>
              <a:t>Дедловским Алексееем Евгеньевичем и Матюшичевой Ангелиной Константиновной</a:t>
            </a:r>
            <a:r>
              <a:rPr lang="ru-RU" sz="1600">
                <a:solidFill>
                  <a:schemeClr val="bg1"/>
                </a:solidFill>
              </a:rPr>
              <a:t>.</a:t>
            </a:r>
            <a:endParaRPr sz="1600">
              <a:solidFill>
                <a:schemeClr val="bg1"/>
              </a:solidFill>
            </a:endParaRPr>
          </a:p>
          <a:p>
            <a:pPr>
              <a:defRPr/>
            </a:pPr>
            <a:r>
              <a:rPr lang="ru-RU" sz="1600">
                <a:solidFill>
                  <a:schemeClr val="bg1"/>
                </a:solidFill>
              </a:rPr>
              <a:t>Преподаватель</a:t>
            </a:r>
            <a:r>
              <a:rPr lang="en-US" sz="1600">
                <a:solidFill>
                  <a:schemeClr val="bg1"/>
                </a:solidFill>
              </a:rPr>
              <a:t>: </a:t>
            </a:r>
            <a:r>
              <a:rPr lang="ru-RU" sz="1600">
                <a:solidFill>
                  <a:schemeClr val="bg1"/>
                </a:solidFill>
              </a:rPr>
              <a:t>Говорова Марина Михайловна</a:t>
            </a:r>
            <a:endParaRPr lang="ru-RU" sz="1600">
              <a:solidFill>
                <a:schemeClr val="bg1"/>
              </a:solidFill>
            </a:endParaRPr>
          </a:p>
          <a:p>
            <a:pPr>
              <a:defRPr/>
            </a:pPr>
            <a:r>
              <a:rPr lang="ru-RU" sz="1600">
                <a:solidFill>
                  <a:schemeClr val="bg1"/>
                </a:solidFill>
              </a:rPr>
              <a:t>Ментор: Белов Александр</a:t>
            </a:r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1770253447" name="Text Box 1770253446"/>
          <p:cNvSpPr txBox="1"/>
          <p:nvPr/>
        </p:nvSpPr>
        <p:spPr bwMode="auto">
          <a:xfrm>
            <a:off x="2697446" y="3372068"/>
            <a:ext cx="6499255" cy="10976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0" i="0" u="none">
                <a:solidFill>
                  <a:schemeClr val="bg1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Анализ поведения системы</a:t>
            </a:r>
            <a:endParaRPr sz="2200" b="0" i="0" u="none">
              <a:solidFill>
                <a:schemeClr val="bg1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ctr">
              <a:defRPr/>
            </a:pPr>
            <a:r>
              <a:rPr sz="2200" b="0" i="0" u="none">
                <a:solidFill>
                  <a:schemeClr val="bg1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 с использованием контекстных диаграмм (DFD)</a:t>
            </a:r>
            <a:endParaRPr sz="2200" b="0" i="0" u="none">
              <a:solidFill>
                <a:schemeClr val="bg1"/>
              </a:solidFill>
              <a:latin typeface="Arial" panose="020B0704020202020204"/>
              <a:ea typeface="Arial" panose="020B0704020202020204"/>
              <a:cs typeface="Arial" panose="020B0704020202020204"/>
            </a:endParaRPr>
          </a:p>
          <a:p>
            <a:pPr algn="ctr">
              <a:defRPr/>
            </a:pPr>
            <a:r>
              <a:rPr sz="2200" b="0" i="0" u="none">
                <a:solidFill>
                  <a:schemeClr val="bg1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для магазина</a:t>
            </a:r>
            <a:r>
              <a:rPr lang="en-US" sz="2200" b="1" i="0" u="none">
                <a:solidFill>
                  <a:schemeClr val="bg1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 “</a:t>
            </a:r>
            <a:r>
              <a:rPr lang="ru-RU" sz="2200" b="1" i="0" u="none">
                <a:solidFill>
                  <a:schemeClr val="bg1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Дюймовочка</a:t>
            </a:r>
            <a:r>
              <a:rPr lang="en-US" sz="2200" b="1" i="0" u="none">
                <a:solidFill>
                  <a:schemeClr val="bg1"/>
                </a:solidFill>
                <a:latin typeface="Arial" panose="020B0704020202020204"/>
                <a:ea typeface="Arial" panose="020B0704020202020204"/>
                <a:cs typeface="Arial" panose="020B0704020202020204"/>
              </a:rPr>
              <a:t>”</a:t>
            </a:r>
            <a:endParaRPr sz="18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613304" name="Текст 4"/>
          <p:cNvSpPr>
            <a:spLocks noGrp="1"/>
          </p:cNvSpPr>
          <p:nvPr>
            <p:ph type="body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Магазин </a:t>
            </a:r>
            <a:r>
              <a:rPr lang="en-US"/>
              <a:t>“</a:t>
            </a:r>
            <a:r>
              <a:rPr lang="ru-RU" b="0"/>
              <a:t>Дюймовочка</a:t>
            </a:r>
            <a:r>
              <a:rPr lang="en-US" b="0"/>
              <a:t>”</a:t>
            </a:r>
            <a:r>
              <a:rPr lang="ru-RU"/>
              <a:t> – юридическое лицо</a:t>
            </a:r>
            <a:r>
              <a:rPr lang="en-US"/>
              <a:t>,</a:t>
            </a:r>
            <a:r>
              <a:rPr lang="ru-RU"/>
              <a:t> выполняющее функции розничной торговли.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 b="1"/>
              <a:t>Сфера деятельности</a:t>
            </a:r>
            <a:r>
              <a:rPr lang="en-US"/>
              <a:t>: </a:t>
            </a:r>
            <a:r>
              <a:rPr lang="ru-RU"/>
              <a:t>розничная продажа модной одежды</a:t>
            </a:r>
            <a:r>
              <a:rPr lang="ru-RU"/>
              <a:t>.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 b="1"/>
              <a:t>Клиенты</a:t>
            </a:r>
            <a:r>
              <a:rPr lang="en-US"/>
              <a:t>: </a:t>
            </a:r>
            <a:r>
              <a:rPr lang="ru-RU"/>
              <a:t>физические лица.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 b="1"/>
              <a:t>Ключевые особенности</a:t>
            </a:r>
            <a:r>
              <a:rPr lang="en-US" b="1"/>
              <a:t>:</a:t>
            </a:r>
            <a:endParaRPr lang="en-US"/>
          </a:p>
          <a:p>
            <a:pPr marL="661670" lvl="1" indent="-261620">
              <a:buSzPct val="100000"/>
              <a:buFont typeface="Arial" panose="020B0704020202020204"/>
              <a:buChar char="•"/>
              <a:defRPr/>
            </a:pPr>
            <a:r>
              <a:rPr lang="ru-RU"/>
              <a:t>Чёткая процедура определения конечной цены товара	</a:t>
            </a:r>
            <a:endParaRPr lang="en-US"/>
          </a:p>
          <a:p>
            <a:pPr marL="661670" lvl="1" indent="-261620">
              <a:buSzPct val="100000"/>
              <a:buFont typeface="Arial" panose="020B0704020202020204"/>
              <a:buChar char="•"/>
              <a:defRPr/>
            </a:pPr>
            <a:r>
              <a:rPr lang="ru-RU"/>
              <a:t>Регламентированное оформление сделки покупки</a:t>
            </a:r>
            <a:endParaRPr lang="ru-RU"/>
          </a:p>
          <a:p>
            <a:pPr marL="661670" lvl="1" indent="-261620">
              <a:buSzPct val="100000"/>
              <a:buFont typeface="Arial" panose="020B0704020202020204"/>
              <a:buChar char="•"/>
              <a:defRPr/>
            </a:pPr>
            <a:r>
              <a:rPr lang="ru-RU"/>
              <a:t>Работа с поставщиками и возвратами товара</a:t>
            </a:r>
            <a:endParaRPr lang="ru-RU"/>
          </a:p>
          <a:p>
            <a:pPr marL="661670" lvl="1" indent="-261620">
              <a:buSzPct val="100000"/>
              <a:buFont typeface="Arial" panose="020B0704020202020204"/>
              <a:buChar char="•"/>
              <a:defRPr/>
            </a:pPr>
            <a:r>
              <a:rPr lang="ru-RU"/>
              <a:t>Ведение учёта товаров</a:t>
            </a:r>
            <a:r>
              <a:rPr lang="en-US"/>
              <a:t>, </a:t>
            </a:r>
            <a:r>
              <a:rPr lang="ru-RU"/>
              <a:t>выручки и инвентаризации</a:t>
            </a:r>
            <a:endParaRPr lang="ru-RU"/>
          </a:p>
          <a:p>
            <a:pPr lvl="1">
              <a:defRPr/>
            </a:pPr>
            <a:endParaRPr lang="ru-RU"/>
          </a:p>
        </p:txBody>
      </p:sp>
      <p:sp>
        <p:nvSpPr>
          <p:cNvPr id="1266987695" name="Заголовок 3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Предметная область</a:t>
            </a:r>
            <a:endParaRPr lang="ru-RU"/>
          </a:p>
        </p:txBody>
      </p:sp>
      <p:sp>
        <p:nvSpPr>
          <p:cNvPr id="582355325" name="Text Box 582355324"/>
          <p:cNvSpPr txBox="1"/>
          <p:nvPr/>
        </p:nvSpPr>
        <p:spPr bwMode="auto">
          <a:xfrm>
            <a:off x="832150" y="4572000"/>
            <a:ext cx="6826109" cy="1737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1"/>
              <a:t>Основные специалисты</a:t>
            </a:r>
            <a:r>
              <a:rPr lang="en-US" b="1"/>
              <a:t>:</a:t>
            </a:r>
            <a:endParaRPr lang="en-US"/>
          </a:p>
          <a:p>
            <a:pPr marL="683895" lvl="1" indent="-283845">
              <a:buFont typeface="Arial" panose="020B0704020202020204"/>
              <a:buChar char="•"/>
              <a:defRPr/>
            </a:pPr>
            <a:r>
              <a:rPr lang="ru-RU"/>
              <a:t>Специалисты по работе с клиентами</a:t>
            </a:r>
            <a:endParaRPr lang="ru-RU"/>
          </a:p>
          <a:p>
            <a:pPr marL="683895" lvl="1" indent="-283845">
              <a:buFont typeface="Arial" panose="020B0704020202020204"/>
              <a:buChar char="•"/>
              <a:defRPr/>
            </a:pPr>
            <a:r>
              <a:rPr lang="ru-RU"/>
              <a:t>Юрист</a:t>
            </a:r>
            <a:endParaRPr lang="ru-RU"/>
          </a:p>
          <a:p>
            <a:pPr marL="683895" lvl="1" indent="-283845">
              <a:buFont typeface="Arial" panose="020B0704020202020204"/>
              <a:buChar char="•"/>
              <a:defRPr/>
            </a:pPr>
            <a:r>
              <a:rPr lang="ru-RU"/>
              <a:t>Специалисты по реализации</a:t>
            </a:r>
            <a:endParaRPr lang="ru-RU"/>
          </a:p>
          <a:p>
            <a:pPr marL="683895" lvl="1" indent="-283845">
              <a:buFont typeface="Arial" panose="020B0704020202020204"/>
              <a:buChar char="•"/>
              <a:defRPr/>
            </a:pPr>
            <a:r>
              <a:rPr lang="ru-RU"/>
              <a:t>Бухгалтер</a:t>
            </a:r>
            <a:endParaRPr lang="ru-RU"/>
          </a:p>
          <a:p>
            <a:pPr marL="683895" lvl="1" indent="-283845">
              <a:buFont typeface="Arial" panose="020B0704020202020204"/>
              <a:buChar char="•"/>
              <a:defRPr/>
            </a:pPr>
            <a:r>
              <a:rPr lang="ru-RU"/>
              <a:t>Управляющий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780951" name="Текст 1"/>
          <p:cNvSpPr>
            <a:spLocks noGrp="1"/>
          </p:cNvSpPr>
          <p:nvPr>
            <p:ph type="body" sz="quarter" idx="10"/>
          </p:nvPr>
        </p:nvSpPr>
        <p:spPr bwMode="auto">
          <a:xfrm>
            <a:off x="677331" y="2587624"/>
            <a:ext cx="4642417" cy="1900316"/>
          </a:xfrm>
        </p:spPr>
        <p:txBody>
          <a:bodyPr/>
          <a:lstStyle/>
          <a:p>
            <a:pPr algn="l">
              <a:defRPr/>
            </a:pPr>
            <a:r>
              <a:rPr lang="ru-RU" sz="1800"/>
              <a:t>Спроектировать функциональную модель АИС для магазина модной одежды </a:t>
            </a:r>
            <a:r>
              <a:rPr lang="en-US" sz="1800"/>
              <a:t>“</a:t>
            </a:r>
            <a:r>
              <a:rPr lang="ru-RU" sz="1800"/>
              <a:t>Дюймовочка</a:t>
            </a:r>
            <a:r>
              <a:rPr lang="en-US" sz="1800"/>
              <a:t>”</a:t>
            </a:r>
            <a:r>
              <a:rPr lang="ru-RU" sz="1800"/>
              <a:t> на основе методологии </a:t>
            </a:r>
            <a:r>
              <a:rPr lang="en-US" sz="1800"/>
              <a:t>DFD/IDEF0.</a:t>
            </a:r>
            <a:endParaRPr lang="ru-RU"/>
          </a:p>
        </p:txBody>
      </p:sp>
      <p:sp>
        <p:nvSpPr>
          <p:cNvPr id="1773183349" name="Текст 2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600" b="1"/>
              <a:t>Цель</a:t>
            </a:r>
            <a:r>
              <a:rPr lang="ru-RU" sz="2600" b="1"/>
              <a:t> проекта</a:t>
            </a:r>
            <a:r>
              <a:rPr lang="en-US" sz="2600" b="1"/>
              <a:t>:</a:t>
            </a:r>
            <a:endParaRPr lang="ru-RU"/>
          </a:p>
        </p:txBody>
      </p:sp>
      <p:sp>
        <p:nvSpPr>
          <p:cNvPr id="1645724871" name="Заголовок 3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Цели и задачи проекта</a:t>
            </a:r>
            <a:endParaRPr lang="ru-RU"/>
          </a:p>
        </p:txBody>
      </p:sp>
      <p:sp>
        <p:nvSpPr>
          <p:cNvPr id="1742398142" name="Текст 4"/>
          <p:cNvSpPr>
            <a:spLocks noGrp="1"/>
          </p:cNvSpPr>
          <p:nvPr>
            <p:ph type="body" sz="quarter" idx="14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 marL="217805" indent="-217805">
              <a:buSzPct val="100000"/>
              <a:buFont typeface="Arial" panose="020B0704020202020204"/>
              <a:buAutoNum type="arabicPeriod"/>
              <a:defRPr/>
            </a:pPr>
            <a:r>
              <a:rPr lang="ru-RU" sz="1600"/>
              <a:t>Определить назначение информационной системы.</a:t>
            </a:r>
            <a:endParaRPr sz="1600"/>
          </a:p>
          <a:p>
            <a:pPr marL="217805" indent="-217805">
              <a:buSzPct val="100000"/>
              <a:buFont typeface="Arial" panose="020B0704020202020204"/>
              <a:buAutoNum type="arabicPeriod"/>
              <a:defRPr/>
            </a:pPr>
            <a:r>
              <a:rPr lang="ru-RU" sz="1600"/>
              <a:t>Выделить основной процесс и внешние сущности.</a:t>
            </a:r>
            <a:endParaRPr sz="1600"/>
          </a:p>
          <a:p>
            <a:pPr marL="217805" indent="-217805">
              <a:buSzPct val="100000"/>
              <a:buFont typeface="Arial" panose="020B0704020202020204"/>
              <a:buAutoNum type="arabicPeriod"/>
              <a:defRPr/>
            </a:pPr>
            <a:r>
              <a:rPr lang="ru-RU" sz="1600"/>
              <a:t>Выделить потоки данных для внешних сущностей.</a:t>
            </a:r>
            <a:endParaRPr sz="1600"/>
          </a:p>
          <a:p>
            <a:pPr marL="217805" indent="-217805">
              <a:buSzPct val="100000"/>
              <a:buFont typeface="Arial" panose="020B0704020202020204"/>
              <a:buAutoNum type="arabicPeriod"/>
              <a:defRPr/>
            </a:pPr>
            <a:r>
              <a:rPr lang="ru-RU" sz="1600"/>
              <a:t>Составить контекстную диаграмму нулевого уровня (</a:t>
            </a:r>
            <a:r>
              <a:rPr lang="en-US" sz="1600"/>
              <a:t>A-0</a:t>
            </a:r>
            <a:r>
              <a:rPr lang="ru-RU" sz="1600"/>
              <a:t>).</a:t>
            </a:r>
            <a:endParaRPr sz="1600"/>
          </a:p>
          <a:p>
            <a:pPr marL="217805" indent="-217805">
              <a:buSzPct val="100000"/>
              <a:buFont typeface="Arial" panose="020B0704020202020204"/>
              <a:buAutoNum type="arabicPeriod"/>
              <a:defRPr/>
            </a:pPr>
            <a:r>
              <a:rPr lang="ru-RU" sz="1600"/>
              <a:t>Проанализировать события и определить связи по потокам. данных между сущностями</a:t>
            </a:r>
            <a:r>
              <a:rPr lang="en-US" sz="1600"/>
              <a:t>, </a:t>
            </a:r>
            <a:r>
              <a:rPr lang="ru-RU" sz="1600"/>
              <a:t>событиями и накопителями данных.</a:t>
            </a:r>
            <a:endParaRPr sz="1600"/>
          </a:p>
          <a:p>
            <a:pPr marL="217805" indent="-217805">
              <a:buSzPct val="100000"/>
              <a:buFont typeface="Arial" panose="020B0704020202020204"/>
              <a:buAutoNum type="arabicPeriod"/>
              <a:defRPr/>
            </a:pPr>
            <a:r>
              <a:rPr lang="ru-RU" sz="1600"/>
              <a:t>Составить детализированную контекстную диаграмму (</a:t>
            </a:r>
            <a:r>
              <a:rPr lang="en-US" sz="1600"/>
              <a:t>A0)</a:t>
            </a:r>
            <a:endParaRPr sz="1250"/>
          </a:p>
          <a:p>
            <a:pPr marL="217805" indent="-217805">
              <a:buSzPct val="100000"/>
              <a:buFont typeface="Arial" panose="020B0704020202020204"/>
              <a:buAutoNum type="arabicPeriod"/>
              <a:defRPr/>
            </a:pPr>
            <a:r>
              <a:rPr lang="ru-RU" sz="1600"/>
              <a:t>Подготовить выводы по результатам моделирования</a:t>
            </a:r>
            <a:endParaRPr lang="ru-RU"/>
          </a:p>
        </p:txBody>
      </p:sp>
      <p:sp>
        <p:nvSpPr>
          <p:cNvPr id="449478782" name="Текст 5"/>
          <p:cNvSpPr>
            <a:spLocks noGrp="1"/>
          </p:cNvSpPr>
          <p:nvPr>
            <p:ph type="body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600" b="1"/>
              <a:t>З</a:t>
            </a:r>
            <a:r>
              <a:rPr lang="ru-RU" sz="2600" b="1"/>
              <a:t>адачи проекта</a:t>
            </a:r>
            <a:r>
              <a:rPr lang="en-US" sz="2600" b="1"/>
              <a:t>: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663797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ru-RU" sz="2800"/>
              <a:t>Анализ предметной области и выделение процессов</a:t>
            </a:r>
            <a:endParaRPr lang="ru-RU"/>
          </a:p>
        </p:txBody>
      </p:sp>
      <p:sp>
        <p:nvSpPr>
          <p:cNvPr id="1504336971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 algn="l">
              <a:lnSpc>
                <a:spcPct val="115000"/>
              </a:lnSpc>
              <a:defRPr/>
            </a:pPr>
            <a:r>
              <a:rPr sz="1600" b="1"/>
              <a:t>Основные бизнес-процессы магазина </a:t>
            </a:r>
            <a:r>
              <a:rPr lang="en-US" sz="1600" b="1"/>
              <a:t>“</a:t>
            </a:r>
            <a:r>
              <a:rPr lang="ru-RU" sz="1600" b="1"/>
              <a:t>Дюймовочка</a:t>
            </a:r>
            <a:r>
              <a:rPr lang="en-US" sz="1600" b="1"/>
              <a:t>”: </a:t>
            </a:r>
            <a:endParaRPr lang="en-US" sz="1600" b="1"/>
          </a:p>
          <a:p>
            <a:pPr marL="640080" lvl="1" indent="-240030" algn="l">
              <a:lnSpc>
                <a:spcPct val="115000"/>
              </a:lnSpc>
              <a:buSzPct val="100000"/>
              <a:buFont typeface="Arial" panose="020B0704020202020204"/>
              <a:buAutoNum type="arabicPeriod"/>
              <a:defRPr/>
            </a:pPr>
            <a:r>
              <a:rPr lang="ru-RU" sz="1400" b="1"/>
              <a:t>Поступление товаров в розницу</a:t>
            </a:r>
            <a:r>
              <a:rPr lang="en-US" sz="1200" b="1"/>
              <a:t>:</a:t>
            </a:r>
            <a:endParaRPr lang="en-US" sz="1200" b="0"/>
          </a:p>
          <a:p>
            <a:pPr lvl="2" algn="l">
              <a:defRPr/>
            </a:pPr>
            <a:r>
              <a:rPr lang="ru-RU" sz="1200" b="0"/>
              <a:t>Товар поступает от поставщика</a:t>
            </a:r>
            <a:endParaRPr lang="en-US" sz="800" b="0"/>
          </a:p>
          <a:p>
            <a:pPr lvl="2" algn="l">
              <a:defRPr/>
            </a:pPr>
            <a:r>
              <a:rPr lang="ru-RU" sz="1200" b="0"/>
              <a:t>Учёт товаров в ценах реализации</a:t>
            </a:r>
            <a:endParaRPr lang="ru-RU" sz="1200" b="0"/>
          </a:p>
          <a:p>
            <a:pPr lvl="2" algn="l">
              <a:defRPr/>
            </a:pPr>
            <a:r>
              <a:rPr lang="ru-RU" sz="1200" b="0"/>
              <a:t>Формирование реестра приходных накладных</a:t>
            </a:r>
            <a:endParaRPr lang="ru-RU" sz="1200" b="0"/>
          </a:p>
          <a:p>
            <a:pPr lvl="2" algn="l">
              <a:lnSpc>
                <a:spcPct val="115000"/>
              </a:lnSpc>
              <a:defRPr/>
            </a:pPr>
            <a:r>
              <a:rPr lang="ru-RU" sz="1200" b="0"/>
              <a:t>Отчёт по поставщикам</a:t>
            </a:r>
            <a:endParaRPr lang="ru-RU" sz="1200" b="0"/>
          </a:p>
          <a:p>
            <a:pPr marL="732155" lvl="1" indent="-217805" algn="l">
              <a:lnSpc>
                <a:spcPct val="115000"/>
              </a:lnSpc>
              <a:buFont typeface="Arial" panose="020B0704020202020204"/>
              <a:buAutoNum type="arabicPeriod"/>
              <a:defRPr/>
            </a:pPr>
            <a:r>
              <a:rPr lang="ru-RU" sz="1400" b="1"/>
              <a:t>Продажа товаров</a:t>
            </a:r>
            <a:r>
              <a:rPr lang="en-US" sz="1400" b="1"/>
              <a:t>:</a:t>
            </a:r>
            <a:endParaRPr lang="en-US" sz="1400" b="0"/>
          </a:p>
          <a:p>
            <a:pPr lvl="2" algn="l">
              <a:defRPr/>
            </a:pPr>
            <a:r>
              <a:rPr lang="ru-RU" sz="1200" b="0"/>
              <a:t>Заключение сделок с клиентами</a:t>
            </a:r>
            <a:endParaRPr sz="1200" b="0"/>
          </a:p>
          <a:p>
            <a:pPr lvl="2" algn="l">
              <a:defRPr/>
            </a:pPr>
            <a:r>
              <a:rPr lang="ru-RU" sz="1200" b="0"/>
              <a:t>Возможный возврат товаров</a:t>
            </a:r>
            <a:endParaRPr sz="1200" b="0"/>
          </a:p>
          <a:p>
            <a:pPr lvl="2" algn="l">
              <a:defRPr/>
            </a:pPr>
            <a:r>
              <a:rPr lang="ru-RU" sz="1200" b="0"/>
              <a:t>Формирование товарного отчёта</a:t>
            </a:r>
            <a:endParaRPr sz="1200" b="0"/>
          </a:p>
          <a:p>
            <a:pPr lvl="2" algn="l">
              <a:defRPr/>
            </a:pPr>
            <a:r>
              <a:rPr lang="ru-RU" sz="1200" b="0"/>
              <a:t>Реестр возвратных накладных</a:t>
            </a:r>
            <a:endParaRPr sz="1200" b="0"/>
          </a:p>
          <a:p>
            <a:pPr lvl="2" algn="l">
              <a:lnSpc>
                <a:spcPct val="115000"/>
              </a:lnSpc>
              <a:defRPr/>
            </a:pPr>
            <a:r>
              <a:rPr lang="ru-RU" sz="1200" b="0"/>
              <a:t>Отчёт о доходах и расходах</a:t>
            </a:r>
            <a:endParaRPr lang="ru-RU" sz="1000" b="0"/>
          </a:p>
          <a:p>
            <a:pPr marL="697230" lvl="1" indent="-240030" algn="l">
              <a:lnSpc>
                <a:spcPct val="115000"/>
              </a:lnSpc>
              <a:buFont typeface="Arial" panose="020B0704020202020204"/>
              <a:buAutoNum type="arabicPeriod"/>
              <a:defRPr/>
            </a:pPr>
            <a:r>
              <a:rPr lang="ru-RU" sz="1400" b="1"/>
              <a:t>Анализ доходов и планирование закупок</a:t>
            </a:r>
            <a:r>
              <a:rPr lang="en-US" sz="1400" b="1"/>
              <a:t>:</a:t>
            </a:r>
            <a:endParaRPr lang="en-US" sz="1400" b="0"/>
          </a:p>
          <a:p>
            <a:pPr lvl="2" algn="l">
              <a:defRPr/>
            </a:pPr>
            <a:r>
              <a:rPr lang="ru-RU" sz="1200" b="0"/>
              <a:t>Анализ денежной выручки по ККМ и отделам</a:t>
            </a:r>
            <a:endParaRPr sz="1200" b="0"/>
          </a:p>
          <a:p>
            <a:pPr lvl="2" algn="l">
              <a:lnSpc>
                <a:spcPct val="115000"/>
              </a:lnSpc>
              <a:defRPr/>
            </a:pPr>
            <a:r>
              <a:rPr lang="ru-RU" sz="1200" b="0"/>
              <a:t>Планирование закупок у поставщика</a:t>
            </a:r>
            <a:endParaRPr sz="1000" b="1"/>
          </a:p>
          <a:p>
            <a:pPr marL="697230" lvl="1" indent="-240030" algn="l">
              <a:lnSpc>
                <a:spcPct val="115000"/>
              </a:lnSpc>
              <a:buFont typeface="Arial" panose="020B0704020202020204"/>
              <a:buAutoNum type="arabicPeriod"/>
              <a:defRPr/>
            </a:pPr>
            <a:r>
              <a:rPr lang="ru-RU" sz="1400" b="1"/>
              <a:t>Количественно-суммовой мониторинг</a:t>
            </a:r>
            <a:r>
              <a:rPr lang="en-US" sz="1400" b="1"/>
              <a:t>:</a:t>
            </a:r>
            <a:endParaRPr lang="en-US" sz="1400" b="0"/>
          </a:p>
          <a:p>
            <a:pPr lvl="2" algn="l">
              <a:defRPr/>
            </a:pPr>
            <a:r>
              <a:rPr lang="ru-RU" sz="1200" b="0"/>
              <a:t>Учёт товаров по номенклатуре</a:t>
            </a:r>
            <a:endParaRPr sz="1200" b="0"/>
          </a:p>
          <a:p>
            <a:pPr lvl="2" algn="l">
              <a:defRPr/>
            </a:pPr>
            <a:r>
              <a:rPr lang="ru-RU" sz="1200" b="0"/>
              <a:t>Реализация товаров методами</a:t>
            </a:r>
            <a:r>
              <a:rPr lang="en-US" sz="1200" b="0"/>
              <a:t>:</a:t>
            </a:r>
            <a:r>
              <a:rPr lang="ru-RU" sz="1200" b="0"/>
              <a:t> по стоимости единицы</a:t>
            </a:r>
            <a:r>
              <a:rPr lang="en-US" sz="1200" b="0"/>
              <a:t>, </a:t>
            </a:r>
            <a:r>
              <a:rPr lang="ru-RU" sz="1200" b="0"/>
              <a:t>ФИФО</a:t>
            </a:r>
            <a:endParaRPr sz="1200" b="0"/>
          </a:p>
          <a:p>
            <a:pPr lvl="2" algn="l">
              <a:defRPr/>
            </a:pPr>
            <a:r>
              <a:rPr lang="ru-RU" sz="1200" b="0"/>
              <a:t>Учёт выручки по отделам</a:t>
            </a:r>
            <a:endParaRPr sz="1200" b="0"/>
          </a:p>
          <a:p>
            <a:pPr lvl="2" algn="l">
              <a:defRPr/>
            </a:pPr>
            <a:r>
              <a:rPr lang="ru-RU" sz="1200" b="0"/>
              <a:t>Инвентаризация </a:t>
            </a:r>
            <a:endParaRPr sz="1200" b="0"/>
          </a:p>
          <a:p>
            <a:pPr lvl="2" algn="l">
              <a:defRPr/>
            </a:pPr>
            <a:r>
              <a:rPr lang="ru-RU" sz="1200" b="0"/>
              <a:t>Определение результатов по хозяйственной деятельности</a:t>
            </a:r>
            <a:endParaRPr lang="en-US" sz="1000" b="0"/>
          </a:p>
          <a:p>
            <a:pPr lvl="2">
              <a:defRPr/>
            </a:pPr>
            <a:endParaRPr lang="en-US" sz="1400" b="0"/>
          </a:p>
        </p:txBody>
      </p:sp>
      <p:sp>
        <p:nvSpPr>
          <p:cNvPr id="1201287540" name="Text Box 1201287539"/>
          <p:cNvSpPr txBox="1"/>
          <p:nvPr/>
        </p:nvSpPr>
        <p:spPr bwMode="auto">
          <a:xfrm>
            <a:off x="6780249" y="1615923"/>
            <a:ext cx="3749310" cy="205318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15000"/>
              </a:lnSpc>
              <a:defRPr/>
            </a:pPr>
            <a:r>
              <a:rPr b="1"/>
              <a:t>Внешние сущности</a:t>
            </a:r>
            <a:r>
              <a:rPr lang="en-US" b="1"/>
              <a:t>:</a:t>
            </a:r>
            <a:endParaRPr lang="en-US"/>
          </a:p>
          <a:p>
            <a:pPr marL="683895" lvl="1" indent="-283845">
              <a:buFont typeface="Arial" panose="020B0704020202020204"/>
              <a:buChar char="•"/>
              <a:defRPr/>
            </a:pPr>
            <a:r>
              <a:rPr lang="ru-RU"/>
              <a:t>Поставщик</a:t>
            </a:r>
            <a:endParaRPr lang="ru-RU"/>
          </a:p>
          <a:p>
            <a:pPr marL="683895" lvl="1" indent="-283845">
              <a:buFont typeface="Arial" panose="020B0704020202020204"/>
              <a:buChar char="•"/>
              <a:defRPr/>
            </a:pPr>
            <a:r>
              <a:rPr lang="ru-RU"/>
              <a:t>Клиент </a:t>
            </a:r>
            <a:endParaRPr lang="ru-RU"/>
          </a:p>
          <a:p>
            <a:pPr marL="683895" lvl="1" indent="-283845">
              <a:buFont typeface="Arial" panose="020B0704020202020204"/>
              <a:buChar char="•"/>
              <a:defRPr/>
            </a:pPr>
            <a:r>
              <a:rPr lang="ru-RU"/>
              <a:t>Бухгалтер</a:t>
            </a:r>
            <a:endParaRPr lang="ru-RU"/>
          </a:p>
          <a:p>
            <a:pPr marL="683895" lvl="1" indent="-283845">
              <a:buFont typeface="Arial" panose="020B0704020202020204"/>
              <a:buChar char="•"/>
              <a:defRPr/>
            </a:pPr>
            <a:r>
              <a:rPr lang="ru-RU"/>
              <a:t>Юрист</a:t>
            </a:r>
            <a:endParaRPr lang="ru-RU"/>
          </a:p>
          <a:p>
            <a:pPr marL="683895" lvl="1" indent="-283845">
              <a:buFont typeface="Arial" panose="020B0704020202020204"/>
              <a:buChar char="•"/>
              <a:defRPr/>
            </a:pPr>
            <a:r>
              <a:rPr lang="ru-RU"/>
              <a:t>Управляющий</a:t>
            </a:r>
            <a:endParaRPr lang="en-US"/>
          </a:p>
          <a:p>
            <a:pPr>
              <a:defRPr/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711517" name="Заголовок 4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Процесс</a:t>
            </a:r>
            <a:r>
              <a:rPr lang="en-US"/>
              <a:t> A-0</a:t>
            </a:r>
            <a:endParaRPr lang="ru-RU"/>
          </a:p>
        </p:txBody>
      </p:sp>
      <p:pic>
        <p:nvPicPr>
          <p:cNvPr id="2" name="Picture 1" descr="A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9590" y="1111885"/>
            <a:ext cx="8592820" cy="5406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040212" name="Текст 4"/>
          <p:cNvSpPr>
            <a:spLocks noGrp="1"/>
          </p:cNvSpPr>
          <p:nvPr>
            <p:ph type="body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 b="1"/>
              <a:t>Методология</a:t>
            </a:r>
            <a:r>
              <a:rPr lang="en-US" b="1"/>
              <a:t>:</a:t>
            </a:r>
            <a:r>
              <a:rPr lang="en-US"/>
              <a:t> IDEF0 / DFD </a:t>
            </a:r>
            <a:r>
              <a:rPr lang="ru-RU"/>
              <a:t>– функциональное моделирование бизнес-процессов.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en-US" b="1"/>
              <a:t>CASE-</a:t>
            </a:r>
            <a:r>
              <a:rPr lang="ru-RU" b="1"/>
              <a:t>средство</a:t>
            </a:r>
            <a:r>
              <a:rPr lang="en-US"/>
              <a:t>: Visual Paradigm</a:t>
            </a:r>
            <a:endParaRPr lang="en-US"/>
          </a:p>
          <a:p>
            <a:pPr>
              <a:defRPr/>
            </a:pPr>
            <a:endParaRPr b="1"/>
          </a:p>
          <a:p>
            <a:pPr>
              <a:defRPr/>
            </a:pPr>
            <a:r>
              <a:rPr lang="ru-RU" b="1"/>
              <a:t>Почему выбрана методология</a:t>
            </a:r>
            <a:r>
              <a:rPr lang="en-US" b="1"/>
              <a:t>:</a:t>
            </a:r>
            <a:endParaRPr lang="en-US"/>
          </a:p>
          <a:p>
            <a:pPr marL="661670" lvl="1" indent="-261620">
              <a:buSzPct val="100000"/>
              <a:buFont typeface="Arial" panose="020B0704020202020204"/>
              <a:buChar char="•"/>
              <a:defRPr/>
            </a:pPr>
            <a:r>
              <a:rPr lang="ru-RU"/>
              <a:t>Позволяет наглядно представить функции системы</a:t>
            </a:r>
            <a:endParaRPr lang="ru-RU"/>
          </a:p>
          <a:p>
            <a:pPr marL="661670" lvl="1" indent="-261620">
              <a:buSzPct val="100000"/>
              <a:buFont typeface="Arial" panose="020B0704020202020204"/>
              <a:buChar char="•"/>
              <a:defRPr/>
            </a:pPr>
            <a:r>
              <a:rPr lang="ru-RU"/>
              <a:t>Помогает согласовать требования с заказчиком.</a:t>
            </a:r>
            <a:endParaRPr lang="ru-RU"/>
          </a:p>
          <a:p>
            <a:pPr marL="661670" lvl="1" indent="-261620">
              <a:buSzPct val="100000"/>
              <a:buFont typeface="Arial" panose="020B0704020202020204"/>
              <a:buChar char="•"/>
              <a:defRPr/>
            </a:pPr>
            <a:r>
              <a:rPr lang="ru-RU"/>
              <a:t>Обеспечивает декомпозицию процессов	до нужного уровня детализации.</a:t>
            </a:r>
            <a:endParaRPr lang="ru-RU"/>
          </a:p>
          <a:p>
            <a:pPr marL="661670" lvl="1" indent="-261620">
              <a:buSzPct val="100000"/>
              <a:buFont typeface="Arial" panose="020B0704020202020204"/>
              <a:buChar char="•"/>
              <a:defRPr/>
            </a:pPr>
            <a:r>
              <a:rPr lang="ru-RU"/>
              <a:t>Соответствует стандартам функционального моделирования.</a:t>
            </a:r>
            <a:endParaRPr lang="ru-RU"/>
          </a:p>
          <a:p>
            <a:pPr lvl="0">
              <a:defRPr/>
            </a:pPr>
            <a:endParaRPr lang="ru-RU"/>
          </a:p>
          <a:p>
            <a:pPr lvl="0">
              <a:defRPr/>
            </a:pPr>
            <a:r>
              <a:rPr lang="ru-RU" b="1"/>
              <a:t>Основные правила построения</a:t>
            </a:r>
            <a:r>
              <a:rPr lang="en-US" b="1"/>
              <a:t>:</a:t>
            </a:r>
            <a:endParaRPr lang="en-US"/>
          </a:p>
          <a:p>
            <a:pPr marL="661670" lvl="1" indent="-261620">
              <a:buSzPct val="100000"/>
              <a:buFont typeface="Arial" panose="020B0704020202020204"/>
              <a:buChar char="•"/>
              <a:defRPr/>
            </a:pPr>
            <a:r>
              <a:rPr lang="ru-RU"/>
              <a:t>От 2 до 6 процессов на диаграмме.</a:t>
            </a:r>
            <a:endParaRPr lang="ru-RU"/>
          </a:p>
          <a:p>
            <a:pPr marL="661670" lvl="1" indent="-261620">
              <a:buSzPct val="100000"/>
              <a:buFont typeface="Arial" panose="020B0704020202020204"/>
              <a:buChar char="•"/>
              <a:defRPr/>
            </a:pPr>
            <a:r>
              <a:rPr lang="ru-RU"/>
              <a:t>Имена процессов – глаголы.</a:t>
            </a:r>
            <a:endParaRPr lang="ru-RU"/>
          </a:p>
          <a:p>
            <a:pPr marL="661670" lvl="1" indent="-261620">
              <a:buSzPct val="100000"/>
              <a:buFont typeface="Arial" panose="020B0704020202020204"/>
              <a:buChar char="•"/>
              <a:defRPr/>
            </a:pPr>
            <a:r>
              <a:rPr lang="ru-RU"/>
              <a:t>Имена потоков – существительные или названия документов</a:t>
            </a:r>
            <a:endParaRPr lang="ru-RU"/>
          </a:p>
          <a:p>
            <a:pPr marL="661670" lvl="1" indent="-261620">
              <a:buSzPct val="100000"/>
              <a:buFont typeface="Arial" panose="020B0704020202020204"/>
              <a:buChar char="•"/>
              <a:defRPr/>
            </a:pPr>
            <a:r>
              <a:rPr lang="ru-RU"/>
              <a:t>Отсутствие материальных потоков.</a:t>
            </a:r>
            <a:endParaRPr lang="ru-RU"/>
          </a:p>
          <a:p>
            <a:pPr marL="661670" lvl="1" indent="-261620">
              <a:buSzPct val="100000"/>
              <a:buFont typeface="Arial" panose="020B0704020202020204"/>
              <a:buChar char="•"/>
              <a:defRPr/>
            </a:pPr>
            <a:r>
              <a:rPr lang="ru-RU"/>
              <a:t>Наличие входа и выхода у хранилищ данных.</a:t>
            </a:r>
            <a:endParaRPr lang="ru-RU"/>
          </a:p>
        </p:txBody>
      </p:sp>
      <p:sp>
        <p:nvSpPr>
          <p:cNvPr id="803793364" name="Заголовок 3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Методы и средства выполнения проекта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352079" name="Заголовок 4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Процесс </a:t>
            </a:r>
            <a:r>
              <a:rPr lang="en-US"/>
              <a:t>A0</a:t>
            </a:r>
            <a:endParaRPr lang="ru-RU"/>
          </a:p>
        </p:txBody>
      </p:sp>
      <p:pic>
        <p:nvPicPr>
          <p:cNvPr id="2" name="Picture 1" descr="A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7925" y="1111885"/>
            <a:ext cx="6880860" cy="5558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530872" name="Заголовок 4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Процесс </a:t>
            </a:r>
            <a:r>
              <a:rPr lang="en-US"/>
              <a:t>A1</a:t>
            </a:r>
            <a:endParaRPr lang="ru-RU"/>
          </a:p>
        </p:txBody>
      </p:sp>
      <p:pic>
        <p:nvPicPr>
          <p:cNvPr id="2" name="Picture 1" descr="A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615" y="1364615"/>
            <a:ext cx="9970770" cy="41287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573392" name="Текст 4"/>
          <p:cNvSpPr>
            <a:spLocks noGrp="1"/>
          </p:cNvSpPr>
          <p:nvPr>
            <p:ph type="body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89500373" name="Заголовок 3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Матрица списка событий</a:t>
            </a:r>
            <a:endParaRPr lang="ru-RU"/>
          </a:p>
        </p:txBody>
      </p:sp>
      <p:graphicFrame>
        <p:nvGraphicFramePr>
          <p:cNvPr id="2116805673" name="Table 2116805672"/>
          <p:cNvGraphicFramePr/>
          <p:nvPr/>
        </p:nvGraphicFramePr>
        <p:xfrm>
          <a:off x="609599" y="1543050"/>
          <a:ext cx="10952196" cy="4649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8049"/>
                <a:gridCol w="2738049"/>
                <a:gridCol w="2738049"/>
                <a:gridCol w="2738049"/>
              </a:tblGrid>
              <a:tr h="762333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/>
                        <a:t>Событие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t>Реакция системы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t>Внешняя сущность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t>Поток данных</a:t>
                      </a:r>
                    </a:p>
                  </a:txBody>
                  <a:tcPr/>
                </a:tc>
              </a:tr>
              <a:tr h="838045">
                <a:tc>
                  <a:txBody>
                    <a:bodyPr/>
                    <a:p>
                      <a:pPr algn="ctr">
                        <a:defRPr/>
                      </a:pPr>
                      <a:r>
                        <a:t>Поступление товара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t>Регистрация товара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t>Поставщик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t>Приходная накладная</a:t>
                      </a:r>
                    </a:p>
                  </a:txBody>
                  <a:tcPr/>
                </a:tc>
              </a:tr>
              <a:tr h="762333">
                <a:tc>
                  <a:txBody>
                    <a:bodyPr/>
                    <a:p>
                      <a:pPr algn="ctr">
                        <a:defRPr/>
                      </a:pPr>
                      <a:r>
                        <a:t>Продажа товара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t>Оформление продажи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t>Клиент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t>Товарный чек</a:t>
                      </a:r>
                    </a:p>
                  </a:txBody>
                  <a:tcPr/>
                </a:tc>
              </a:tr>
              <a:tr h="762333">
                <a:tc>
                  <a:txBody>
                    <a:bodyPr/>
                    <a:p>
                      <a:pPr algn="ctr">
                        <a:defRPr/>
                      </a:pPr>
                      <a:r>
                        <a:t>Возврат товара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t>Оформление возврата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t>Клиент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t>Возвратная накладная</a:t>
                      </a:r>
                    </a:p>
                  </a:txBody>
                  <a:tcPr/>
                </a:tc>
              </a:tr>
              <a:tr h="762333">
                <a:tc>
                  <a:txBody>
                    <a:bodyPr/>
                    <a:p>
                      <a:pPr algn="ctr">
                        <a:defRPr/>
                      </a:pPr>
                      <a:r>
                        <a:t>Запрос отчёта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t>Формирование отчёта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t>Управляющий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t>Отчёт о доходах</a:t>
                      </a:r>
                    </a:p>
                  </a:txBody>
                  <a:tcPr/>
                </a:tc>
              </a:tr>
              <a:tr h="762333">
                <a:tc>
                  <a:txBody>
                    <a:bodyPr/>
                    <a:p>
                      <a:pPr algn="ctr">
                        <a:defRPr/>
                      </a:pPr>
                      <a:r>
                        <a:t>Инвентаризация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t>Сверка данных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t>Бухгалтер</a:t>
                      </a: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t>Инвентаризационная деятельность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4294687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Выводы</a:t>
            </a:r>
            <a:endParaRPr lang="ru-RU"/>
          </a:p>
        </p:txBody>
      </p:sp>
      <p:sp>
        <p:nvSpPr>
          <p:cNvPr id="43942035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 algn="l">
              <a:defRPr/>
            </a:pPr>
            <a:r>
              <a:rPr lang="ru-RU" sz="1600" b="1" i="0" u="none" strike="noStrike" cap="none" spc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Цель достигнута</a:t>
            </a:r>
            <a:r>
              <a:rPr lang="ru-RU" sz="1600" b="0" i="0" u="none" strike="noStrike" cap="none" spc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 – разработана функциональная модель АИС для магазина </a:t>
            </a:r>
            <a:r>
              <a:rPr lang="en-US" sz="1600" b="0" i="0" u="none" strike="noStrike" cap="none" spc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“</a:t>
            </a:r>
            <a:r>
              <a:rPr lang="ru-RU" sz="1600" b="0" i="0" u="none" strike="noStrike" cap="none" spc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Дюймовочка</a:t>
            </a:r>
            <a:r>
              <a:rPr lang="en-US" sz="1600" b="0" i="0" u="none" strike="noStrike" cap="none" spc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”</a:t>
            </a:r>
            <a:endParaRPr sz="1600" b="0" i="0">
              <a:solidFill>
                <a:srgbClr val="2C2D2E"/>
              </a:solidFill>
              <a:latin typeface="Calibri"/>
              <a:cs typeface="Calibri"/>
            </a:endParaRPr>
          </a:p>
          <a:p>
            <a:pPr algn="l">
              <a:defRPr/>
            </a:pPr>
            <a:endParaRPr sz="1800" b="0" i="0">
              <a:solidFill>
                <a:srgbClr val="2C2D2E"/>
              </a:solidFill>
              <a:latin typeface="Calibri"/>
              <a:cs typeface="Calibri"/>
            </a:endParaRPr>
          </a:p>
          <a:p>
            <a:pPr algn="l">
              <a:defRPr/>
            </a:pPr>
            <a:r>
              <a:rPr lang="ru-RU" sz="1600" b="1" i="0" u="none" strike="noStrike" cap="none" spc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Выполненные задачи</a:t>
            </a:r>
            <a:r>
              <a:rPr lang="en-US" sz="1600" b="1" i="0" u="none" strike="noStrike" cap="none" spc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:</a:t>
            </a:r>
            <a:endParaRPr sz="1600" b="0" i="0">
              <a:solidFill>
                <a:srgbClr val="2C2D2E"/>
              </a:solidFill>
              <a:latin typeface="Calibri"/>
              <a:cs typeface="Calibri"/>
            </a:endParaRPr>
          </a:p>
          <a:p>
            <a:pPr lvl="1" algn="l">
              <a:defRPr/>
            </a:pPr>
            <a:r>
              <a:rPr lang="ru-RU" sz="1600" b="0" i="0" u="none" strike="noStrike" cap="none" spc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Определено назначение ИС</a:t>
            </a:r>
            <a:endParaRPr sz="1600" b="0" i="0">
              <a:solidFill>
                <a:srgbClr val="2C2D2E"/>
              </a:solidFill>
              <a:latin typeface="Calibri"/>
              <a:cs typeface="Calibri"/>
            </a:endParaRPr>
          </a:p>
          <a:p>
            <a:pPr lvl="1" algn="l">
              <a:defRPr/>
            </a:pPr>
            <a:r>
              <a:rPr lang="ru-RU" sz="1600" b="0" i="0" u="none" strike="noStrike" cap="none" spc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Выделены основной процесс и внешние сущности</a:t>
            </a:r>
            <a:endParaRPr sz="1600" b="0" i="0">
              <a:solidFill>
                <a:srgbClr val="2C2D2E"/>
              </a:solidFill>
              <a:latin typeface="Calibri"/>
              <a:cs typeface="Calibri"/>
            </a:endParaRPr>
          </a:p>
          <a:p>
            <a:pPr lvl="1" algn="l">
              <a:defRPr/>
            </a:pPr>
            <a:r>
              <a:rPr lang="ru-RU" sz="1600" b="0" i="0" u="none" strike="noStrike" cap="none" spc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Построены контекстная и детализированная диаграммы</a:t>
            </a:r>
            <a:endParaRPr sz="1600" b="0" i="0">
              <a:solidFill>
                <a:srgbClr val="2C2D2E"/>
              </a:solidFill>
              <a:latin typeface="Calibri"/>
              <a:cs typeface="Calibri"/>
            </a:endParaRPr>
          </a:p>
          <a:p>
            <a:pPr lvl="1" algn="l">
              <a:defRPr/>
            </a:pPr>
            <a:r>
              <a:rPr lang="ru-RU" sz="1600" b="0" i="0" u="none" strike="noStrike" cap="none" spc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Проанализированы события и потоки данных</a:t>
            </a:r>
            <a:endParaRPr sz="1600" b="0" i="0">
              <a:solidFill>
                <a:srgbClr val="2C2D2E"/>
              </a:solidFill>
              <a:latin typeface="Calibri"/>
              <a:cs typeface="Calibri"/>
            </a:endParaRPr>
          </a:p>
          <a:p>
            <a:pPr lvl="1">
              <a:defRPr/>
            </a:pPr>
            <a:r>
              <a:rPr lang="ru-RU" sz="1600" b="0" i="0" u="none" strike="noStrike" cap="none" spc="0">
                <a:solidFill>
                  <a:srgbClr val="2C2D2E"/>
                </a:solidFill>
                <a:latin typeface="Calibri"/>
                <a:ea typeface="Calibri"/>
                <a:cs typeface="Calibri"/>
              </a:rPr>
              <a:t>Подготовлена основа для дальнейшего проектирования базы данных	</a:t>
            </a:r>
            <a:endParaRPr sz="1800" b="0" i="0" u="none" strike="noStrike" cap="none" spc="0">
              <a:solidFill>
                <a:srgbClr val="2C2D2E"/>
              </a:solidFill>
              <a:latin typeface="Calibri"/>
              <a:cs typeface="Calibri"/>
            </a:endParaRPr>
          </a:p>
          <a:p>
            <a:pPr marL="457200" lvl="1" indent="0">
              <a:buFont typeface="Arial" panose="020B0704020202020204"/>
              <a:buNone/>
              <a:defRPr/>
            </a:pPr>
            <a:endParaRPr sz="1800" b="0" i="0" u="none" strike="noStrike" cap="none" spc="0">
              <a:solidFill>
                <a:srgbClr val="2C2D2E"/>
              </a:solidFill>
              <a:latin typeface="Calibri"/>
              <a:cs typeface="Calibri"/>
            </a:endParaRPr>
          </a:p>
          <a:p>
            <a:pPr marL="457200" lvl="1" indent="0">
              <a:buFont typeface="Arial" panose="020B0704020202020204"/>
              <a:buNone/>
              <a:defRPr/>
            </a:pPr>
            <a:r>
              <a:rPr lang="ru-RU" sz="1400" b="0" i="0" u="none" strike="noStrike" cap="none" spc="0">
                <a:solidFill>
                  <a:srgbClr val="2C2D2E"/>
                </a:solidFill>
                <a:latin typeface="Golos Text"/>
                <a:ea typeface="Golos Text"/>
                <a:cs typeface="Golos Text"/>
              </a:rPr>
              <a:t>	</a:t>
            </a:r>
            <a:endParaRPr sz="1400"/>
          </a:p>
        </p:txBody>
      </p:sp>
      <p:sp>
        <p:nvSpPr>
          <p:cNvPr id="1009569978" name="Text Box 1009569977"/>
          <p:cNvSpPr txBox="1"/>
          <p:nvPr/>
        </p:nvSpPr>
        <p:spPr bwMode="auto">
          <a:xfrm>
            <a:off x="684249" y="3841749"/>
            <a:ext cx="6947639" cy="1310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600" b="1"/>
              <a:t>Практическая значимость</a:t>
            </a:r>
            <a:r>
              <a:rPr lang="en-US" sz="1600" b="1"/>
              <a:t>:</a:t>
            </a:r>
            <a:endParaRPr sz="1600"/>
          </a:p>
          <a:p>
            <a:pPr marL="683895" lvl="1" indent="-283845">
              <a:buFont typeface="Arial" panose="020B0704020202020204"/>
              <a:buChar char="•"/>
              <a:defRPr/>
            </a:pPr>
            <a:r>
              <a:rPr lang="ru-RU" sz="1600"/>
              <a:t>автоматизировать учёт товаров</a:t>
            </a:r>
            <a:endParaRPr sz="1600"/>
          </a:p>
          <a:p>
            <a:pPr marL="683895" lvl="1" indent="-283845">
              <a:buFont typeface="Arial" panose="020B0704020202020204"/>
              <a:buChar char="•"/>
              <a:defRPr/>
            </a:pPr>
            <a:r>
              <a:rPr lang="ru-RU" sz="1600"/>
              <a:t>Упростить оформление продаж и возвратов</a:t>
            </a:r>
            <a:endParaRPr sz="1600"/>
          </a:p>
          <a:p>
            <a:pPr marL="683895" lvl="1" indent="-283845">
              <a:buFont typeface="Arial" panose="020B0704020202020204"/>
              <a:buChar char="•"/>
              <a:defRPr/>
            </a:pPr>
            <a:r>
              <a:rPr lang="ru-RU" sz="1600"/>
              <a:t>Повысить эффективность планирования закупок</a:t>
            </a:r>
            <a:endParaRPr sz="1600"/>
          </a:p>
          <a:p>
            <a:pPr marL="683895" lvl="1" indent="-283845">
              <a:buFont typeface="Arial" panose="020B0704020202020204"/>
              <a:buChar char="•"/>
              <a:defRPr/>
            </a:pPr>
            <a:r>
              <a:rPr lang="ru-RU" sz="1600"/>
              <a:t>Улучшить контроль над финансовыми результатами</a:t>
            </a:r>
            <a:endParaRPr lang="ru-RU" sz="1600"/>
          </a:p>
        </p:txBody>
      </p:sp>
      <p:sp>
        <p:nvSpPr>
          <p:cNvPr id="1331163590" name="Text Box 1331163589"/>
          <p:cNvSpPr txBox="1"/>
          <p:nvPr/>
        </p:nvSpPr>
        <p:spPr bwMode="auto">
          <a:xfrm>
            <a:off x="858874" y="5365749"/>
            <a:ext cx="97824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600" b="1"/>
              <a:t>Авторский вывод</a:t>
            </a:r>
            <a:r>
              <a:rPr lang="en-US" sz="1600" b="1"/>
              <a:t>: </a:t>
            </a:r>
            <a:endParaRPr sz="1600"/>
          </a:p>
          <a:p>
            <a:pPr>
              <a:defRPr/>
            </a:pPr>
            <a:r>
              <a:rPr lang="ru-RU" sz="1600"/>
              <a:t>Использование методологии </a:t>
            </a:r>
            <a:r>
              <a:rPr lang="en-US" sz="1600"/>
              <a:t>IDEF0/DFD </a:t>
            </a:r>
            <a:r>
              <a:rPr lang="ru-RU" sz="1600"/>
              <a:t>позволило структурировать деятельность магазина и выявить ключевые информационные потоки</a:t>
            </a:r>
            <a:r>
              <a:rPr lang="en-US" sz="1600"/>
              <a:t>,</a:t>
            </a:r>
            <a:r>
              <a:rPr lang="ru-RU" sz="1600"/>
              <a:t> необходимые для создания эффективной АИС.</a:t>
            </a:r>
            <a:endParaRPr lang="ru-RU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1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244809" name="Title 1"/>
          <p:cNvSpPr>
            <a:spLocks noGrp="1"/>
          </p:cNvSpPr>
          <p:nvPr>
            <p:ph type="title"/>
          </p:nvPr>
        </p:nvSpPr>
        <p:spPr bwMode="auto">
          <a:xfrm>
            <a:off x="609599" y="2402417"/>
            <a:ext cx="10972800" cy="827615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lang="en-US" sz="4400"/>
          </a:p>
        </p:txBody>
      </p:sp>
      <p:sp>
        <p:nvSpPr>
          <p:cNvPr id="1462516762" name="TextBox 2"/>
          <p:cNvSpPr txBox="1"/>
          <p:nvPr/>
        </p:nvSpPr>
        <p:spPr bwMode="auto">
          <a:xfrm>
            <a:off x="11543142" y="5958349"/>
            <a:ext cx="183636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/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3817</Words>
  <Application>WPS Docs</Application>
  <PresentationFormat>On-screen Show (4:3)</PresentationFormat>
  <Paragraphs>181</Paragraphs>
  <Slides>11</Slides>
  <Notes>11</Notes>
  <HiddenSlides>0</HiddenSlides>
  <MMClips>2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SimSun</vt:lpstr>
      <vt:lpstr>Wingdings</vt:lpstr>
      <vt:lpstr>Arial</vt:lpstr>
      <vt:lpstr>ALS Gorizont Bold Expanded</vt:lpstr>
      <vt:lpstr>Thonburi</vt:lpstr>
      <vt:lpstr>Golos Text</vt:lpstr>
      <vt:lpstr>Golos Text DemiBold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Тема1</vt:lpstr>
      <vt:lpstr>Лабораторная работа</vt:lpstr>
      <vt:lpstr>Предметная область</vt:lpstr>
      <vt:lpstr>Цели и задачи проекта</vt:lpstr>
      <vt:lpstr>Анализ предметной области и выделение процессов</vt:lpstr>
      <vt:lpstr>Процесс A-0</vt:lpstr>
      <vt:lpstr>Методы и средства выполнения проекта</vt:lpstr>
      <vt:lpstr>Процесс A0</vt:lpstr>
      <vt:lpstr>Процесс A1</vt:lpstr>
      <vt:lpstr>Матрица списка событий</vt:lpstr>
      <vt:lpstr>Выводы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ann</cp:lastModifiedBy>
  <cp:revision>8</cp:revision>
  <dcterms:created xsi:type="dcterms:W3CDTF">2026-10-14T09:56:30Z</dcterms:created>
  <dcterms:modified xsi:type="dcterms:W3CDTF">2026-10-14T09:56:30Z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1033-12.1.28496.28496</vt:lpwstr>
  </property>
  <property fmtid="{D5CDD505-2E9C-101B-9397-08002B2CF9AE}" pid="3" name="ICV">
    <vt:lpwstr>8ED00655E3EAC040C68DCE6A510B638B_42</vt:lpwstr>
  </property>
</Properties>
</file>